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569" r:id="rId3"/>
    <p:sldId id="570" r:id="rId4"/>
    <p:sldId id="571" r:id="rId5"/>
    <p:sldId id="572" r:id="rId6"/>
    <p:sldId id="576" r:id="rId7"/>
    <p:sldId id="577" r:id="rId8"/>
    <p:sldId id="573" r:id="rId9"/>
    <p:sldId id="574" r:id="rId10"/>
    <p:sldId id="5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7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2" d="100"/>
          <a:sy n="102" d="100"/>
        </p:scale>
        <p:origin x="3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19A94-5E07-A9E9-86AD-6CD5CF2B62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38D291-4C37-5401-2BC1-D33E571303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56D89C-999A-E25D-4793-0522EEBAD0E1}"/>
              </a:ext>
            </a:extLst>
          </p:cNvPr>
          <p:cNvSpPr>
            <a:spLocks noGrp="1"/>
          </p:cNvSpPr>
          <p:nvPr>
            <p:ph type="dt" sz="half" idx="10"/>
          </p:nvPr>
        </p:nvSpPr>
        <p:spPr/>
        <p:txBody>
          <a:bodyPr/>
          <a:lstStyle/>
          <a:p>
            <a:fld id="{FEA3A9FB-FCE5-454E-8724-3196A0A20FCD}" type="datetimeFigureOut">
              <a:rPr lang="en-IN" smtClean="0"/>
              <a:t>05-11-2024</a:t>
            </a:fld>
            <a:endParaRPr lang="en-IN"/>
          </a:p>
        </p:txBody>
      </p:sp>
      <p:sp>
        <p:nvSpPr>
          <p:cNvPr id="5" name="Footer Placeholder 4">
            <a:extLst>
              <a:ext uri="{FF2B5EF4-FFF2-40B4-BE49-F238E27FC236}">
                <a16:creationId xmlns:a16="http://schemas.microsoft.com/office/drawing/2014/main" id="{9957662B-2CF7-E1E9-5781-D5FF09A9D8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C3890B-C1DE-D324-CD02-2290D0B2E9DD}"/>
              </a:ext>
            </a:extLst>
          </p:cNvPr>
          <p:cNvSpPr>
            <a:spLocks noGrp="1"/>
          </p:cNvSpPr>
          <p:nvPr>
            <p:ph type="sldNum" sz="quarter" idx="12"/>
          </p:nvPr>
        </p:nvSpPr>
        <p:spPr/>
        <p:txBody>
          <a:bodyPr/>
          <a:lstStyle/>
          <a:p>
            <a:fld id="{02ADC2F5-8BA7-45F9-82AB-B472733BB1A3}" type="slidenum">
              <a:rPr lang="en-IN" smtClean="0"/>
              <a:t>‹#›</a:t>
            </a:fld>
            <a:endParaRPr lang="en-IN"/>
          </a:p>
        </p:txBody>
      </p:sp>
    </p:spTree>
    <p:extLst>
      <p:ext uri="{BB962C8B-B14F-4D97-AF65-F5344CB8AC3E}">
        <p14:creationId xmlns:p14="http://schemas.microsoft.com/office/powerpoint/2010/main" val="264163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C8411-A408-23CD-2128-650978ED74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6127AA-CDD3-C08E-4B75-672B956C31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55FFFA-9518-432B-1442-C4921A1E1D2A}"/>
              </a:ext>
            </a:extLst>
          </p:cNvPr>
          <p:cNvSpPr>
            <a:spLocks noGrp="1"/>
          </p:cNvSpPr>
          <p:nvPr>
            <p:ph type="dt" sz="half" idx="10"/>
          </p:nvPr>
        </p:nvSpPr>
        <p:spPr/>
        <p:txBody>
          <a:bodyPr/>
          <a:lstStyle/>
          <a:p>
            <a:fld id="{FEA3A9FB-FCE5-454E-8724-3196A0A20FCD}" type="datetimeFigureOut">
              <a:rPr lang="en-IN" smtClean="0"/>
              <a:t>05-11-2024</a:t>
            </a:fld>
            <a:endParaRPr lang="en-IN"/>
          </a:p>
        </p:txBody>
      </p:sp>
      <p:sp>
        <p:nvSpPr>
          <p:cNvPr id="5" name="Footer Placeholder 4">
            <a:extLst>
              <a:ext uri="{FF2B5EF4-FFF2-40B4-BE49-F238E27FC236}">
                <a16:creationId xmlns:a16="http://schemas.microsoft.com/office/drawing/2014/main" id="{09B949BA-7769-C698-D3FB-FE67DA7CFF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A67A0E-886F-E33B-0194-6307084A5D76}"/>
              </a:ext>
            </a:extLst>
          </p:cNvPr>
          <p:cNvSpPr>
            <a:spLocks noGrp="1"/>
          </p:cNvSpPr>
          <p:nvPr>
            <p:ph type="sldNum" sz="quarter" idx="12"/>
          </p:nvPr>
        </p:nvSpPr>
        <p:spPr/>
        <p:txBody>
          <a:bodyPr/>
          <a:lstStyle/>
          <a:p>
            <a:fld id="{02ADC2F5-8BA7-45F9-82AB-B472733BB1A3}" type="slidenum">
              <a:rPr lang="en-IN" smtClean="0"/>
              <a:t>‹#›</a:t>
            </a:fld>
            <a:endParaRPr lang="en-IN"/>
          </a:p>
        </p:txBody>
      </p:sp>
    </p:spTree>
    <p:extLst>
      <p:ext uri="{BB962C8B-B14F-4D97-AF65-F5344CB8AC3E}">
        <p14:creationId xmlns:p14="http://schemas.microsoft.com/office/powerpoint/2010/main" val="2798575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C9D10-656D-DCDC-B277-86C9430E14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A799671-ADA6-C6ED-0960-5947AE2B7C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8F7001-4030-D2D7-38CF-BDCA340D3577}"/>
              </a:ext>
            </a:extLst>
          </p:cNvPr>
          <p:cNvSpPr>
            <a:spLocks noGrp="1"/>
          </p:cNvSpPr>
          <p:nvPr>
            <p:ph type="dt" sz="half" idx="10"/>
          </p:nvPr>
        </p:nvSpPr>
        <p:spPr/>
        <p:txBody>
          <a:bodyPr/>
          <a:lstStyle/>
          <a:p>
            <a:fld id="{FEA3A9FB-FCE5-454E-8724-3196A0A20FCD}" type="datetimeFigureOut">
              <a:rPr lang="en-IN" smtClean="0"/>
              <a:t>05-11-2024</a:t>
            </a:fld>
            <a:endParaRPr lang="en-IN"/>
          </a:p>
        </p:txBody>
      </p:sp>
      <p:sp>
        <p:nvSpPr>
          <p:cNvPr id="5" name="Footer Placeholder 4">
            <a:extLst>
              <a:ext uri="{FF2B5EF4-FFF2-40B4-BE49-F238E27FC236}">
                <a16:creationId xmlns:a16="http://schemas.microsoft.com/office/drawing/2014/main" id="{D6252FF1-A4DA-662F-FBA2-9A1A8DA3B2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66475F-1013-A416-E608-71619C9B76DD}"/>
              </a:ext>
            </a:extLst>
          </p:cNvPr>
          <p:cNvSpPr>
            <a:spLocks noGrp="1"/>
          </p:cNvSpPr>
          <p:nvPr>
            <p:ph type="sldNum" sz="quarter" idx="12"/>
          </p:nvPr>
        </p:nvSpPr>
        <p:spPr/>
        <p:txBody>
          <a:bodyPr/>
          <a:lstStyle/>
          <a:p>
            <a:fld id="{02ADC2F5-8BA7-45F9-82AB-B472733BB1A3}" type="slidenum">
              <a:rPr lang="en-IN" smtClean="0"/>
              <a:t>‹#›</a:t>
            </a:fld>
            <a:endParaRPr lang="en-IN"/>
          </a:p>
        </p:txBody>
      </p:sp>
    </p:spTree>
    <p:extLst>
      <p:ext uri="{BB962C8B-B14F-4D97-AF65-F5344CB8AC3E}">
        <p14:creationId xmlns:p14="http://schemas.microsoft.com/office/powerpoint/2010/main" val="2291847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DAD02-F1A9-7A50-8E9F-8DD71B07BF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46B0C9-D507-0758-E0A8-79B8440A99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5CE71F8-76C9-9A4A-5E1B-3E53F9E0CD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0406031-118A-B5AE-3A4F-F3D4F1509000}"/>
              </a:ext>
            </a:extLst>
          </p:cNvPr>
          <p:cNvSpPr>
            <a:spLocks noGrp="1"/>
          </p:cNvSpPr>
          <p:nvPr>
            <p:ph type="dt" sz="half" idx="10"/>
          </p:nvPr>
        </p:nvSpPr>
        <p:spPr/>
        <p:txBody>
          <a:bodyPr/>
          <a:lstStyle/>
          <a:p>
            <a:fld id="{FEA3A9FB-FCE5-454E-8724-3196A0A20FCD}" type="datetimeFigureOut">
              <a:rPr lang="en-IN" smtClean="0"/>
              <a:t>05-11-2024</a:t>
            </a:fld>
            <a:endParaRPr lang="en-IN"/>
          </a:p>
        </p:txBody>
      </p:sp>
      <p:sp>
        <p:nvSpPr>
          <p:cNvPr id="6" name="Footer Placeholder 5">
            <a:extLst>
              <a:ext uri="{FF2B5EF4-FFF2-40B4-BE49-F238E27FC236}">
                <a16:creationId xmlns:a16="http://schemas.microsoft.com/office/drawing/2014/main" id="{2DBFD777-2029-7B37-1271-75AC9B6716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CC9A67-0033-CBF3-6035-CCEC9AB5D89C}"/>
              </a:ext>
            </a:extLst>
          </p:cNvPr>
          <p:cNvSpPr>
            <a:spLocks noGrp="1"/>
          </p:cNvSpPr>
          <p:nvPr>
            <p:ph type="sldNum" sz="quarter" idx="12"/>
          </p:nvPr>
        </p:nvSpPr>
        <p:spPr/>
        <p:txBody>
          <a:bodyPr/>
          <a:lstStyle/>
          <a:p>
            <a:fld id="{02ADC2F5-8BA7-45F9-82AB-B472733BB1A3}" type="slidenum">
              <a:rPr lang="en-IN" smtClean="0"/>
              <a:t>‹#›</a:t>
            </a:fld>
            <a:endParaRPr lang="en-IN"/>
          </a:p>
        </p:txBody>
      </p:sp>
    </p:spTree>
    <p:extLst>
      <p:ext uri="{BB962C8B-B14F-4D97-AF65-F5344CB8AC3E}">
        <p14:creationId xmlns:p14="http://schemas.microsoft.com/office/powerpoint/2010/main" val="3084523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38E89-7F9A-9F8D-77C3-2B555FED101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0946AE-CAC9-B0FB-0464-0BD8028A4E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55B0AB-33AB-B15C-87B0-CADC9A823F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DA0EC0D-D795-3BBB-65C1-B094F9D3E6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A523E2-3167-FAF3-9AEE-1C8C1A3503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A908E7-7856-384A-EC34-D11513957FEA}"/>
              </a:ext>
            </a:extLst>
          </p:cNvPr>
          <p:cNvSpPr>
            <a:spLocks noGrp="1"/>
          </p:cNvSpPr>
          <p:nvPr>
            <p:ph type="dt" sz="half" idx="10"/>
          </p:nvPr>
        </p:nvSpPr>
        <p:spPr/>
        <p:txBody>
          <a:bodyPr/>
          <a:lstStyle/>
          <a:p>
            <a:fld id="{FEA3A9FB-FCE5-454E-8724-3196A0A20FCD}" type="datetimeFigureOut">
              <a:rPr lang="en-IN" smtClean="0"/>
              <a:t>05-11-2024</a:t>
            </a:fld>
            <a:endParaRPr lang="en-IN"/>
          </a:p>
        </p:txBody>
      </p:sp>
      <p:sp>
        <p:nvSpPr>
          <p:cNvPr id="8" name="Footer Placeholder 7">
            <a:extLst>
              <a:ext uri="{FF2B5EF4-FFF2-40B4-BE49-F238E27FC236}">
                <a16:creationId xmlns:a16="http://schemas.microsoft.com/office/drawing/2014/main" id="{6506F6BE-CE7A-FC7D-F91D-5B38D411B97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0825CBD-1F79-562D-5CB3-999F44670B2D}"/>
              </a:ext>
            </a:extLst>
          </p:cNvPr>
          <p:cNvSpPr>
            <a:spLocks noGrp="1"/>
          </p:cNvSpPr>
          <p:nvPr>
            <p:ph type="sldNum" sz="quarter" idx="12"/>
          </p:nvPr>
        </p:nvSpPr>
        <p:spPr/>
        <p:txBody>
          <a:bodyPr/>
          <a:lstStyle/>
          <a:p>
            <a:fld id="{02ADC2F5-8BA7-45F9-82AB-B472733BB1A3}" type="slidenum">
              <a:rPr lang="en-IN" smtClean="0"/>
              <a:t>‹#›</a:t>
            </a:fld>
            <a:endParaRPr lang="en-IN"/>
          </a:p>
        </p:txBody>
      </p:sp>
    </p:spTree>
    <p:extLst>
      <p:ext uri="{BB962C8B-B14F-4D97-AF65-F5344CB8AC3E}">
        <p14:creationId xmlns:p14="http://schemas.microsoft.com/office/powerpoint/2010/main" val="44495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765A9-03A3-AD77-E524-F975A88791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D5443A2-A8A2-7C4C-B06B-8427F858D7A2}"/>
              </a:ext>
            </a:extLst>
          </p:cNvPr>
          <p:cNvSpPr>
            <a:spLocks noGrp="1"/>
          </p:cNvSpPr>
          <p:nvPr>
            <p:ph type="dt" sz="half" idx="10"/>
          </p:nvPr>
        </p:nvSpPr>
        <p:spPr/>
        <p:txBody>
          <a:bodyPr/>
          <a:lstStyle/>
          <a:p>
            <a:fld id="{FEA3A9FB-FCE5-454E-8724-3196A0A20FCD}" type="datetimeFigureOut">
              <a:rPr lang="en-IN" smtClean="0"/>
              <a:t>05-11-2024</a:t>
            </a:fld>
            <a:endParaRPr lang="en-IN"/>
          </a:p>
        </p:txBody>
      </p:sp>
      <p:sp>
        <p:nvSpPr>
          <p:cNvPr id="4" name="Footer Placeholder 3">
            <a:extLst>
              <a:ext uri="{FF2B5EF4-FFF2-40B4-BE49-F238E27FC236}">
                <a16:creationId xmlns:a16="http://schemas.microsoft.com/office/drawing/2014/main" id="{F1220FFD-6A63-15FB-D955-AE67E9B629E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FA88D1E-9BA9-C622-7CE4-C8E63CD83D4D}"/>
              </a:ext>
            </a:extLst>
          </p:cNvPr>
          <p:cNvSpPr>
            <a:spLocks noGrp="1"/>
          </p:cNvSpPr>
          <p:nvPr>
            <p:ph type="sldNum" sz="quarter" idx="12"/>
          </p:nvPr>
        </p:nvSpPr>
        <p:spPr/>
        <p:txBody>
          <a:bodyPr/>
          <a:lstStyle/>
          <a:p>
            <a:fld id="{02ADC2F5-8BA7-45F9-82AB-B472733BB1A3}" type="slidenum">
              <a:rPr lang="en-IN" smtClean="0"/>
              <a:t>‹#›</a:t>
            </a:fld>
            <a:endParaRPr lang="en-IN"/>
          </a:p>
        </p:txBody>
      </p:sp>
    </p:spTree>
    <p:extLst>
      <p:ext uri="{BB962C8B-B14F-4D97-AF65-F5344CB8AC3E}">
        <p14:creationId xmlns:p14="http://schemas.microsoft.com/office/powerpoint/2010/main" val="3261364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29FB94-0CDA-1127-456D-28E4BBDC68E8}"/>
              </a:ext>
            </a:extLst>
          </p:cNvPr>
          <p:cNvSpPr>
            <a:spLocks noGrp="1"/>
          </p:cNvSpPr>
          <p:nvPr>
            <p:ph type="dt" sz="half" idx="10"/>
          </p:nvPr>
        </p:nvSpPr>
        <p:spPr/>
        <p:txBody>
          <a:bodyPr/>
          <a:lstStyle/>
          <a:p>
            <a:fld id="{FEA3A9FB-FCE5-454E-8724-3196A0A20FCD}" type="datetimeFigureOut">
              <a:rPr lang="en-IN" smtClean="0"/>
              <a:t>05-11-2024</a:t>
            </a:fld>
            <a:endParaRPr lang="en-IN"/>
          </a:p>
        </p:txBody>
      </p:sp>
      <p:sp>
        <p:nvSpPr>
          <p:cNvPr id="3" name="Footer Placeholder 2">
            <a:extLst>
              <a:ext uri="{FF2B5EF4-FFF2-40B4-BE49-F238E27FC236}">
                <a16:creationId xmlns:a16="http://schemas.microsoft.com/office/drawing/2014/main" id="{336FF29A-1253-B7BA-636D-5AA22CE588F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687326C-48B5-8886-22A1-FC4E272820AF}"/>
              </a:ext>
            </a:extLst>
          </p:cNvPr>
          <p:cNvSpPr>
            <a:spLocks noGrp="1"/>
          </p:cNvSpPr>
          <p:nvPr>
            <p:ph type="sldNum" sz="quarter" idx="12"/>
          </p:nvPr>
        </p:nvSpPr>
        <p:spPr/>
        <p:txBody>
          <a:bodyPr/>
          <a:lstStyle/>
          <a:p>
            <a:fld id="{02ADC2F5-8BA7-45F9-82AB-B472733BB1A3}" type="slidenum">
              <a:rPr lang="en-IN" smtClean="0"/>
              <a:t>‹#›</a:t>
            </a:fld>
            <a:endParaRPr lang="en-IN"/>
          </a:p>
        </p:txBody>
      </p:sp>
    </p:spTree>
    <p:extLst>
      <p:ext uri="{BB962C8B-B14F-4D97-AF65-F5344CB8AC3E}">
        <p14:creationId xmlns:p14="http://schemas.microsoft.com/office/powerpoint/2010/main" val="1613881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39751-97E4-FDC5-54EE-166099BA7F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91633F3-9FC8-48A0-EA36-6C41D95A9C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2990575-01A3-05FA-F420-B40A65053B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F5A764-EA65-B204-73C9-B42A29EC08B2}"/>
              </a:ext>
            </a:extLst>
          </p:cNvPr>
          <p:cNvSpPr>
            <a:spLocks noGrp="1"/>
          </p:cNvSpPr>
          <p:nvPr>
            <p:ph type="dt" sz="half" idx="10"/>
          </p:nvPr>
        </p:nvSpPr>
        <p:spPr/>
        <p:txBody>
          <a:bodyPr/>
          <a:lstStyle/>
          <a:p>
            <a:fld id="{FEA3A9FB-FCE5-454E-8724-3196A0A20FCD}" type="datetimeFigureOut">
              <a:rPr lang="en-IN" smtClean="0"/>
              <a:t>05-11-2024</a:t>
            </a:fld>
            <a:endParaRPr lang="en-IN"/>
          </a:p>
        </p:txBody>
      </p:sp>
      <p:sp>
        <p:nvSpPr>
          <p:cNvPr id="6" name="Footer Placeholder 5">
            <a:extLst>
              <a:ext uri="{FF2B5EF4-FFF2-40B4-BE49-F238E27FC236}">
                <a16:creationId xmlns:a16="http://schemas.microsoft.com/office/drawing/2014/main" id="{F0815C64-8301-0AB2-C79D-2F926803BE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E8A6DB-B2C4-997D-343F-EC4F543B4121}"/>
              </a:ext>
            </a:extLst>
          </p:cNvPr>
          <p:cNvSpPr>
            <a:spLocks noGrp="1"/>
          </p:cNvSpPr>
          <p:nvPr>
            <p:ph type="sldNum" sz="quarter" idx="12"/>
          </p:nvPr>
        </p:nvSpPr>
        <p:spPr/>
        <p:txBody>
          <a:bodyPr/>
          <a:lstStyle/>
          <a:p>
            <a:fld id="{02ADC2F5-8BA7-45F9-82AB-B472733BB1A3}" type="slidenum">
              <a:rPr lang="en-IN" smtClean="0"/>
              <a:t>‹#›</a:t>
            </a:fld>
            <a:endParaRPr lang="en-IN"/>
          </a:p>
        </p:txBody>
      </p:sp>
    </p:spTree>
    <p:extLst>
      <p:ext uri="{BB962C8B-B14F-4D97-AF65-F5344CB8AC3E}">
        <p14:creationId xmlns:p14="http://schemas.microsoft.com/office/powerpoint/2010/main" val="3739357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61836-4759-B6B1-501E-F217C01AB3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B6688B-0F29-ED20-CF1D-9B425DBAF7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8B9D31A-F7A4-5FED-1330-5DDFCC85E1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364E5F-4A73-A228-783D-D52949BFCFB2}"/>
              </a:ext>
            </a:extLst>
          </p:cNvPr>
          <p:cNvSpPr>
            <a:spLocks noGrp="1"/>
          </p:cNvSpPr>
          <p:nvPr>
            <p:ph type="dt" sz="half" idx="10"/>
          </p:nvPr>
        </p:nvSpPr>
        <p:spPr/>
        <p:txBody>
          <a:bodyPr/>
          <a:lstStyle/>
          <a:p>
            <a:fld id="{FEA3A9FB-FCE5-454E-8724-3196A0A20FCD}" type="datetimeFigureOut">
              <a:rPr lang="en-IN" smtClean="0"/>
              <a:t>05-11-2024</a:t>
            </a:fld>
            <a:endParaRPr lang="en-IN"/>
          </a:p>
        </p:txBody>
      </p:sp>
      <p:sp>
        <p:nvSpPr>
          <p:cNvPr id="6" name="Footer Placeholder 5">
            <a:extLst>
              <a:ext uri="{FF2B5EF4-FFF2-40B4-BE49-F238E27FC236}">
                <a16:creationId xmlns:a16="http://schemas.microsoft.com/office/drawing/2014/main" id="{F8264C4A-96D2-6E47-70B3-5A155DB45F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5D0072-38F7-D036-6FF5-8E75D94ABFEC}"/>
              </a:ext>
            </a:extLst>
          </p:cNvPr>
          <p:cNvSpPr>
            <a:spLocks noGrp="1"/>
          </p:cNvSpPr>
          <p:nvPr>
            <p:ph type="sldNum" sz="quarter" idx="12"/>
          </p:nvPr>
        </p:nvSpPr>
        <p:spPr/>
        <p:txBody>
          <a:bodyPr/>
          <a:lstStyle/>
          <a:p>
            <a:fld id="{02ADC2F5-8BA7-45F9-82AB-B472733BB1A3}" type="slidenum">
              <a:rPr lang="en-IN" smtClean="0"/>
              <a:t>‹#›</a:t>
            </a:fld>
            <a:endParaRPr lang="en-IN"/>
          </a:p>
        </p:txBody>
      </p:sp>
    </p:spTree>
    <p:extLst>
      <p:ext uri="{BB962C8B-B14F-4D97-AF65-F5344CB8AC3E}">
        <p14:creationId xmlns:p14="http://schemas.microsoft.com/office/powerpoint/2010/main" val="915885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88F4D-6D1F-835A-B541-5AC94132E1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87F49B-3FE4-6C2E-B621-237FD1F845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498AA8-AF56-280B-F8A6-524D582FE516}"/>
              </a:ext>
            </a:extLst>
          </p:cNvPr>
          <p:cNvSpPr>
            <a:spLocks noGrp="1"/>
          </p:cNvSpPr>
          <p:nvPr>
            <p:ph type="dt" sz="half" idx="10"/>
          </p:nvPr>
        </p:nvSpPr>
        <p:spPr/>
        <p:txBody>
          <a:bodyPr/>
          <a:lstStyle/>
          <a:p>
            <a:fld id="{FEA3A9FB-FCE5-454E-8724-3196A0A20FCD}" type="datetimeFigureOut">
              <a:rPr lang="en-IN" smtClean="0"/>
              <a:t>05-11-2024</a:t>
            </a:fld>
            <a:endParaRPr lang="en-IN"/>
          </a:p>
        </p:txBody>
      </p:sp>
      <p:sp>
        <p:nvSpPr>
          <p:cNvPr id="5" name="Footer Placeholder 4">
            <a:extLst>
              <a:ext uri="{FF2B5EF4-FFF2-40B4-BE49-F238E27FC236}">
                <a16:creationId xmlns:a16="http://schemas.microsoft.com/office/drawing/2014/main" id="{CC6F162A-06B6-3E9E-63D7-19F1955B92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99937F-DC07-07AD-C7D0-A93D217574AE}"/>
              </a:ext>
            </a:extLst>
          </p:cNvPr>
          <p:cNvSpPr>
            <a:spLocks noGrp="1"/>
          </p:cNvSpPr>
          <p:nvPr>
            <p:ph type="sldNum" sz="quarter" idx="12"/>
          </p:nvPr>
        </p:nvSpPr>
        <p:spPr/>
        <p:txBody>
          <a:bodyPr/>
          <a:lstStyle/>
          <a:p>
            <a:fld id="{02ADC2F5-8BA7-45F9-82AB-B472733BB1A3}" type="slidenum">
              <a:rPr lang="en-IN" smtClean="0"/>
              <a:t>‹#›</a:t>
            </a:fld>
            <a:endParaRPr lang="en-IN"/>
          </a:p>
        </p:txBody>
      </p:sp>
    </p:spTree>
    <p:extLst>
      <p:ext uri="{BB962C8B-B14F-4D97-AF65-F5344CB8AC3E}">
        <p14:creationId xmlns:p14="http://schemas.microsoft.com/office/powerpoint/2010/main" val="2259644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F9799-5938-599A-FB27-6EC0C4A851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B0C47F-F898-11BC-A376-D65EA95117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1AE759-C7A0-0540-1B53-09BF5CAE4FDA}"/>
              </a:ext>
            </a:extLst>
          </p:cNvPr>
          <p:cNvSpPr>
            <a:spLocks noGrp="1"/>
          </p:cNvSpPr>
          <p:nvPr>
            <p:ph type="dt" sz="half" idx="10"/>
          </p:nvPr>
        </p:nvSpPr>
        <p:spPr/>
        <p:txBody>
          <a:bodyPr/>
          <a:lstStyle/>
          <a:p>
            <a:fld id="{FEA3A9FB-FCE5-454E-8724-3196A0A20FCD}" type="datetimeFigureOut">
              <a:rPr lang="en-IN" smtClean="0"/>
              <a:t>05-11-2024</a:t>
            </a:fld>
            <a:endParaRPr lang="en-IN"/>
          </a:p>
        </p:txBody>
      </p:sp>
      <p:sp>
        <p:nvSpPr>
          <p:cNvPr id="5" name="Footer Placeholder 4">
            <a:extLst>
              <a:ext uri="{FF2B5EF4-FFF2-40B4-BE49-F238E27FC236}">
                <a16:creationId xmlns:a16="http://schemas.microsoft.com/office/drawing/2014/main" id="{983476AF-C91B-1AE7-6B27-1A0D77D326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4916BD-E261-558F-67D7-F8D0C04074AD}"/>
              </a:ext>
            </a:extLst>
          </p:cNvPr>
          <p:cNvSpPr>
            <a:spLocks noGrp="1"/>
          </p:cNvSpPr>
          <p:nvPr>
            <p:ph type="sldNum" sz="quarter" idx="12"/>
          </p:nvPr>
        </p:nvSpPr>
        <p:spPr/>
        <p:txBody>
          <a:bodyPr/>
          <a:lstStyle/>
          <a:p>
            <a:fld id="{02ADC2F5-8BA7-45F9-82AB-B472733BB1A3}" type="slidenum">
              <a:rPr lang="en-IN" smtClean="0"/>
              <a:t>‹#›</a:t>
            </a:fld>
            <a:endParaRPr lang="en-IN"/>
          </a:p>
        </p:txBody>
      </p:sp>
    </p:spTree>
    <p:extLst>
      <p:ext uri="{BB962C8B-B14F-4D97-AF65-F5344CB8AC3E}">
        <p14:creationId xmlns:p14="http://schemas.microsoft.com/office/powerpoint/2010/main" val="3969443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423005-6FAC-B972-E4E8-82D0466F67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4FFC077-A932-D83D-EBF7-19BBC30CE1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9E6993-9075-64D4-B008-CC4EB5F826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A3A9FB-FCE5-454E-8724-3196A0A20FCD}" type="datetimeFigureOut">
              <a:rPr lang="en-IN" smtClean="0"/>
              <a:t>05-11-2024</a:t>
            </a:fld>
            <a:endParaRPr lang="en-IN"/>
          </a:p>
        </p:txBody>
      </p:sp>
      <p:sp>
        <p:nvSpPr>
          <p:cNvPr id="5" name="Footer Placeholder 4">
            <a:extLst>
              <a:ext uri="{FF2B5EF4-FFF2-40B4-BE49-F238E27FC236}">
                <a16:creationId xmlns:a16="http://schemas.microsoft.com/office/drawing/2014/main" id="{3451F48E-7283-0C32-3897-62E3E53324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D204670-038C-A300-3F10-B87C677156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ADC2F5-8BA7-45F9-82AB-B472733BB1A3}" type="slidenum">
              <a:rPr lang="en-IN" smtClean="0"/>
              <a:t>‹#›</a:t>
            </a:fld>
            <a:endParaRPr lang="en-IN"/>
          </a:p>
        </p:txBody>
      </p:sp>
    </p:spTree>
    <p:extLst>
      <p:ext uri="{BB962C8B-B14F-4D97-AF65-F5344CB8AC3E}">
        <p14:creationId xmlns:p14="http://schemas.microsoft.com/office/powerpoint/2010/main" val="27209008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8C4124-E384-13D6-719A-46FD5462FFFE}"/>
              </a:ext>
            </a:extLst>
          </p:cNvPr>
          <p:cNvSpPr txBox="1"/>
          <p:nvPr/>
        </p:nvSpPr>
        <p:spPr>
          <a:xfrm>
            <a:off x="375920" y="1118387"/>
            <a:ext cx="11440160" cy="1200329"/>
          </a:xfrm>
          <a:prstGeom prst="rect">
            <a:avLst/>
          </a:prstGeom>
          <a:noFill/>
        </p:spPr>
        <p:txBody>
          <a:bodyPr wrap="square" rtlCol="0">
            <a:spAutoFit/>
          </a:bodyPr>
          <a:lstStyle/>
          <a:p>
            <a:pPr algn="ctr"/>
            <a:r>
              <a:rPr lang="en-IN" sz="7200" dirty="0">
                <a:solidFill>
                  <a:srgbClr val="002060"/>
                </a:solidFill>
                <a:latin typeface="Broadway" panose="04040905080B02020502" pitchFamily="82" charset="0"/>
              </a:rPr>
              <a:t>My Data My Story</a:t>
            </a:r>
            <a:endParaRPr lang="en-IN" sz="7200" dirty="0">
              <a:solidFill>
                <a:srgbClr val="C00000"/>
              </a:solidFill>
              <a:latin typeface="Broadway" panose="04040905080B02020502" pitchFamily="82" charset="0"/>
            </a:endParaRPr>
          </a:p>
        </p:txBody>
      </p:sp>
      <p:sp>
        <p:nvSpPr>
          <p:cNvPr id="3" name="TextBox 2">
            <a:extLst>
              <a:ext uri="{FF2B5EF4-FFF2-40B4-BE49-F238E27FC236}">
                <a16:creationId xmlns:a16="http://schemas.microsoft.com/office/drawing/2014/main" id="{0D0427F8-455F-80A8-5A41-DE64823AAB32}"/>
              </a:ext>
            </a:extLst>
          </p:cNvPr>
          <p:cNvSpPr txBox="1"/>
          <p:nvPr/>
        </p:nvSpPr>
        <p:spPr>
          <a:xfrm>
            <a:off x="7206284" y="4894838"/>
            <a:ext cx="4781550" cy="1877437"/>
          </a:xfrm>
          <a:prstGeom prst="rect">
            <a:avLst/>
          </a:prstGeom>
          <a:noFill/>
        </p:spPr>
        <p:txBody>
          <a:bodyPr wrap="square" rtlCol="0">
            <a:spAutoFit/>
          </a:bodyPr>
          <a:lstStyle/>
          <a:p>
            <a:pPr algn="r"/>
            <a:r>
              <a:rPr lang="en-IN" sz="3200" b="1" dirty="0">
                <a:solidFill>
                  <a:srgbClr val="002060"/>
                </a:solidFill>
              </a:rPr>
              <a:t>Name</a:t>
            </a:r>
          </a:p>
          <a:p>
            <a:pPr algn="r"/>
            <a:r>
              <a:rPr lang="en-IN" sz="2800" dirty="0"/>
              <a:t>Reg. No.-12322566</a:t>
            </a:r>
          </a:p>
          <a:p>
            <a:pPr algn="r"/>
            <a:r>
              <a:rPr lang="en-IN" sz="2800" dirty="0"/>
              <a:t>Roll No-17</a:t>
            </a:r>
          </a:p>
          <a:p>
            <a:pPr algn="r"/>
            <a:r>
              <a:rPr lang="en-IN" sz="2800" dirty="0"/>
              <a:t>Section-DE328</a:t>
            </a:r>
          </a:p>
        </p:txBody>
      </p:sp>
      <p:pic>
        <p:nvPicPr>
          <p:cNvPr id="4" name="Picture 2" descr="Practical Storytelling with Gail Thomas">
            <a:extLst>
              <a:ext uri="{FF2B5EF4-FFF2-40B4-BE49-F238E27FC236}">
                <a16:creationId xmlns:a16="http://schemas.microsoft.com/office/drawing/2014/main" id="{34035170-CC11-51F4-04CE-1AD1957C3DA1}"/>
              </a:ext>
            </a:extLst>
          </p:cNvPr>
          <p:cNvPicPr>
            <a:picLocks noChangeAspect="1" noChangeArrowheads="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242352" y="2209801"/>
            <a:ext cx="3707295" cy="370729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F04D526-E080-E9B1-1F9B-684DEB4D0454}"/>
              </a:ext>
            </a:extLst>
          </p:cNvPr>
          <p:cNvSpPr txBox="1"/>
          <p:nvPr/>
        </p:nvSpPr>
        <p:spPr>
          <a:xfrm>
            <a:off x="9940" y="6500189"/>
            <a:ext cx="4346126" cy="369332"/>
          </a:xfrm>
          <a:prstGeom prst="rect">
            <a:avLst/>
          </a:prstGeom>
          <a:noFill/>
        </p:spPr>
        <p:txBody>
          <a:bodyPr wrap="none" rtlCol="0">
            <a:spAutoFit/>
          </a:bodyPr>
          <a:lstStyle/>
          <a:p>
            <a:r>
              <a:rPr lang="en-US" dirty="0"/>
              <a:t>Submitted for the Mini Project #3 of CAP776</a:t>
            </a:r>
            <a:endParaRPr lang="en-IN" dirty="0"/>
          </a:p>
        </p:txBody>
      </p:sp>
      <p:sp>
        <p:nvSpPr>
          <p:cNvPr id="7" name="Rectangle 6">
            <a:extLst>
              <a:ext uri="{FF2B5EF4-FFF2-40B4-BE49-F238E27FC236}">
                <a16:creationId xmlns:a16="http://schemas.microsoft.com/office/drawing/2014/main" id="{0718460A-C9F8-963E-47E4-085B69EF225B}"/>
              </a:ext>
            </a:extLst>
          </p:cNvPr>
          <p:cNvSpPr/>
          <p:nvPr/>
        </p:nvSpPr>
        <p:spPr>
          <a:xfrm>
            <a:off x="0" y="6873690"/>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D194156E-412C-F956-F7F7-DB389EBEEE55}"/>
              </a:ext>
            </a:extLst>
          </p:cNvPr>
          <p:cNvSpPr/>
          <p:nvPr/>
        </p:nvSpPr>
        <p:spPr>
          <a:xfrm>
            <a:off x="0" y="6804339"/>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8">
            <a:extLst>
              <a:ext uri="{FF2B5EF4-FFF2-40B4-BE49-F238E27FC236}">
                <a16:creationId xmlns:a16="http://schemas.microsoft.com/office/drawing/2014/main" id="{522B17F2-95F0-6809-9180-F12C9381A44A}"/>
              </a:ext>
            </a:extLst>
          </p:cNvPr>
          <p:cNvPicPr>
            <a:picLocks noChangeAspect="1"/>
          </p:cNvPicPr>
          <p:nvPr/>
        </p:nvPicPr>
        <p:blipFill>
          <a:blip r:embed="rId3"/>
          <a:stretch>
            <a:fillRect/>
          </a:stretch>
        </p:blipFill>
        <p:spPr>
          <a:xfrm>
            <a:off x="9836912" y="50267"/>
            <a:ext cx="2126489" cy="679717"/>
          </a:xfrm>
          <a:prstGeom prst="rect">
            <a:avLst/>
          </a:prstGeom>
        </p:spPr>
      </p:pic>
    </p:spTree>
    <p:extLst>
      <p:ext uri="{BB962C8B-B14F-4D97-AF65-F5344CB8AC3E}">
        <p14:creationId xmlns:p14="http://schemas.microsoft.com/office/powerpoint/2010/main" val="1800755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7228-D3FE-4D7E-81D1-8C9DC665DE8B}"/>
              </a:ext>
            </a:extLst>
          </p:cNvPr>
          <p:cNvSpPr>
            <a:spLocks noGrp="1"/>
          </p:cNvSpPr>
          <p:nvPr>
            <p:ph type="ctrTitle"/>
          </p:nvPr>
        </p:nvSpPr>
        <p:spPr>
          <a:xfrm>
            <a:off x="861635" y="-95258"/>
            <a:ext cx="8975276" cy="779082"/>
          </a:xfrm>
        </p:spPr>
        <p:txBody>
          <a:bodyPr rtlCol="0">
            <a:noAutofit/>
          </a:bodyPr>
          <a:lstStyle/>
          <a:p>
            <a:pPr algn="l" eaLnBrk="1" fontAlgn="auto" hangingPunct="1">
              <a:spcAft>
                <a:spcPts val="0"/>
              </a:spcAft>
              <a:defRPr/>
            </a:pPr>
            <a:r>
              <a:rPr lang="en-US" sz="5000" b="1" dirty="0">
                <a:solidFill>
                  <a:schemeClr val="tx2">
                    <a:lumMod val="50000"/>
                  </a:schemeClr>
                </a:solidFill>
                <a:latin typeface="Montserrat" panose="00000500000000000000" pitchFamily="2" charset="0"/>
              </a:rPr>
              <a:t>Context Setting</a:t>
            </a:r>
            <a:endParaRPr lang="en-IN" sz="5000" dirty="0">
              <a:solidFill>
                <a:srgbClr val="C00000"/>
              </a:solidFill>
              <a:latin typeface="Broadway" pitchFamily="82" charset="0"/>
            </a:endParaRPr>
          </a:p>
        </p:txBody>
      </p:sp>
      <p:cxnSp>
        <p:nvCxnSpPr>
          <p:cNvPr id="6" name="Straight Connector 5">
            <a:extLst>
              <a:ext uri="{FF2B5EF4-FFF2-40B4-BE49-F238E27FC236}">
                <a16:creationId xmlns:a16="http://schemas.microsoft.com/office/drawing/2014/main" id="{488803DA-0FB5-4367-A46D-E94D6C7D8915}"/>
              </a:ext>
            </a:extLst>
          </p:cNvPr>
          <p:cNvCxnSpPr>
            <a:cxnSpLocks/>
          </p:cNvCxnSpPr>
          <p:nvPr/>
        </p:nvCxnSpPr>
        <p:spPr>
          <a:xfrm flipV="1">
            <a:off x="533400" y="521265"/>
            <a:ext cx="9303511" cy="38100"/>
          </a:xfrm>
          <a:prstGeom prst="line">
            <a:avLst/>
          </a:prstGeom>
        </p:spPr>
        <p:style>
          <a:lnRef idx="3">
            <a:schemeClr val="accent6"/>
          </a:lnRef>
          <a:fillRef idx="0">
            <a:schemeClr val="accent6"/>
          </a:fillRef>
          <a:effectRef idx="2">
            <a:schemeClr val="accent6"/>
          </a:effectRef>
          <a:fontRef idx="minor">
            <a:schemeClr val="tx1"/>
          </a:fontRef>
        </p:style>
      </p:cxnSp>
      <p:sp>
        <p:nvSpPr>
          <p:cNvPr id="3" name="Triangle 15">
            <a:extLst>
              <a:ext uri="{FF2B5EF4-FFF2-40B4-BE49-F238E27FC236}">
                <a16:creationId xmlns:a16="http://schemas.microsoft.com/office/drawing/2014/main" id="{123942CB-FF6D-3EDF-8CE2-2045441A1B8B}"/>
              </a:ext>
            </a:extLst>
          </p:cNvPr>
          <p:cNvSpPr/>
          <p:nvPr/>
        </p:nvSpPr>
        <p:spPr>
          <a:xfrm rot="10800000">
            <a:off x="228600" y="117760"/>
            <a:ext cx="633037" cy="544731"/>
          </a:xfrm>
          <a:prstGeom prst="triangle">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1CAF5E16-C343-3C78-B173-7F2D23AE9DE7}"/>
              </a:ext>
            </a:extLst>
          </p:cNvPr>
          <p:cNvPicPr>
            <a:picLocks noChangeAspect="1"/>
          </p:cNvPicPr>
          <p:nvPr/>
        </p:nvPicPr>
        <p:blipFill>
          <a:blip r:embed="rId2"/>
          <a:stretch>
            <a:fillRect/>
          </a:stretch>
        </p:blipFill>
        <p:spPr>
          <a:xfrm>
            <a:off x="9836912" y="50267"/>
            <a:ext cx="2126489" cy="679717"/>
          </a:xfrm>
          <a:prstGeom prst="rect">
            <a:avLst/>
          </a:prstGeom>
        </p:spPr>
      </p:pic>
      <p:sp>
        <p:nvSpPr>
          <p:cNvPr id="9" name="Rectangle 8">
            <a:extLst>
              <a:ext uri="{FF2B5EF4-FFF2-40B4-BE49-F238E27FC236}">
                <a16:creationId xmlns:a16="http://schemas.microsoft.com/office/drawing/2014/main" id="{01BC3F88-7188-26A2-B040-51F18EC8EEF8}"/>
              </a:ext>
            </a:extLst>
          </p:cNvPr>
          <p:cNvSpPr/>
          <p:nvPr/>
        </p:nvSpPr>
        <p:spPr>
          <a:xfrm>
            <a:off x="0" y="6873690"/>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77A6C3EC-F062-7F3B-9B6D-C983BA7F4228}"/>
              </a:ext>
            </a:extLst>
          </p:cNvPr>
          <p:cNvSpPr/>
          <p:nvPr/>
        </p:nvSpPr>
        <p:spPr>
          <a:xfrm>
            <a:off x="0" y="6804339"/>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CD84BE9F-0D6E-E02E-3F2C-80CF26647395}"/>
              </a:ext>
            </a:extLst>
          </p:cNvPr>
          <p:cNvSpPr txBox="1"/>
          <p:nvPr/>
        </p:nvSpPr>
        <p:spPr>
          <a:xfrm>
            <a:off x="4229758" y="6473107"/>
            <a:ext cx="7972182" cy="369332"/>
          </a:xfrm>
          <a:prstGeom prst="rect">
            <a:avLst/>
          </a:prstGeom>
          <a:noFill/>
        </p:spPr>
        <p:txBody>
          <a:bodyPr wrap="none" rtlCol="0">
            <a:spAutoFit/>
          </a:bodyPr>
          <a:lstStyle/>
          <a:p>
            <a:pPr algn="r"/>
            <a:r>
              <a:rPr lang="en-US" dirty="0" err="1"/>
              <a:t>Name:Jay</a:t>
            </a:r>
            <a:r>
              <a:rPr lang="en-US" dirty="0"/>
              <a:t> Dev                                 Reg. No. 12322566                    Section:  DE328        </a:t>
            </a:r>
            <a:endParaRPr lang="en-IN" dirty="0"/>
          </a:p>
        </p:txBody>
      </p:sp>
      <p:sp>
        <p:nvSpPr>
          <p:cNvPr id="12" name="Rectangle: Rounded Corners 11">
            <a:extLst>
              <a:ext uri="{FF2B5EF4-FFF2-40B4-BE49-F238E27FC236}">
                <a16:creationId xmlns:a16="http://schemas.microsoft.com/office/drawing/2014/main" id="{63132FA9-E032-ED41-8DAA-0D8498839DE3}"/>
              </a:ext>
            </a:extLst>
          </p:cNvPr>
          <p:cNvSpPr/>
          <p:nvPr/>
        </p:nvSpPr>
        <p:spPr>
          <a:xfrm>
            <a:off x="545118" y="1212577"/>
            <a:ext cx="11153239" cy="1313621"/>
          </a:xfrm>
          <a:prstGeom prst="roundRect">
            <a:avLst/>
          </a:prstGeom>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t>Analyzing daily physical activity data can reveal meaningful insights into a person’s lifestyle, fitness level, and health trends.</a:t>
            </a:r>
            <a:endParaRPr lang="en-IN" sz="2800" i="1" dirty="0"/>
          </a:p>
        </p:txBody>
      </p:sp>
      <p:sp>
        <p:nvSpPr>
          <p:cNvPr id="13" name="TextBox 12">
            <a:extLst>
              <a:ext uri="{FF2B5EF4-FFF2-40B4-BE49-F238E27FC236}">
                <a16:creationId xmlns:a16="http://schemas.microsoft.com/office/drawing/2014/main" id="{F7FB131B-C890-9208-7147-DF163B8D1739}"/>
              </a:ext>
            </a:extLst>
          </p:cNvPr>
          <p:cNvSpPr txBox="1"/>
          <p:nvPr/>
        </p:nvSpPr>
        <p:spPr>
          <a:xfrm>
            <a:off x="533400" y="589357"/>
            <a:ext cx="3213651" cy="646331"/>
          </a:xfrm>
          <a:prstGeom prst="rect">
            <a:avLst/>
          </a:prstGeom>
          <a:noFill/>
        </p:spPr>
        <p:txBody>
          <a:bodyPr wrap="square" rtlCol="0">
            <a:spAutoFit/>
          </a:bodyPr>
          <a:lstStyle/>
          <a:p>
            <a:r>
              <a:rPr lang="en-US" sz="3600" b="1" dirty="0">
                <a:solidFill>
                  <a:srgbClr val="ED771F"/>
                </a:solidFill>
              </a:rPr>
              <a:t>Intuition</a:t>
            </a:r>
            <a:endParaRPr lang="en-IN" sz="3600" b="1" dirty="0">
              <a:solidFill>
                <a:srgbClr val="ED771F"/>
              </a:solidFill>
            </a:endParaRPr>
          </a:p>
        </p:txBody>
      </p:sp>
      <p:sp>
        <p:nvSpPr>
          <p:cNvPr id="14" name="Rectangle: Rounded Corners 13">
            <a:extLst>
              <a:ext uri="{FF2B5EF4-FFF2-40B4-BE49-F238E27FC236}">
                <a16:creationId xmlns:a16="http://schemas.microsoft.com/office/drawing/2014/main" id="{357D7F4C-34DD-EDCD-0F01-EF70C60D7997}"/>
              </a:ext>
            </a:extLst>
          </p:cNvPr>
          <p:cNvSpPr/>
          <p:nvPr/>
        </p:nvSpPr>
        <p:spPr>
          <a:xfrm>
            <a:off x="556836" y="3214049"/>
            <a:ext cx="11153239" cy="1313621"/>
          </a:xfrm>
          <a:prstGeom prst="roundRect">
            <a:avLst/>
          </a:prstGeom>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t>The goal is to understand the variation in daily step counts, detect trends or patterns, and provide insights for potential health and fitness improvements.</a:t>
            </a:r>
            <a:endParaRPr lang="en-IN" sz="2800" i="1" dirty="0"/>
          </a:p>
        </p:txBody>
      </p:sp>
      <p:sp>
        <p:nvSpPr>
          <p:cNvPr id="15" name="TextBox 14">
            <a:extLst>
              <a:ext uri="{FF2B5EF4-FFF2-40B4-BE49-F238E27FC236}">
                <a16:creationId xmlns:a16="http://schemas.microsoft.com/office/drawing/2014/main" id="{BD57FC48-32A9-AB88-16C2-37472684EA9E}"/>
              </a:ext>
            </a:extLst>
          </p:cNvPr>
          <p:cNvSpPr txBox="1"/>
          <p:nvPr/>
        </p:nvSpPr>
        <p:spPr>
          <a:xfrm>
            <a:off x="545118" y="2590829"/>
            <a:ext cx="3213651" cy="646331"/>
          </a:xfrm>
          <a:prstGeom prst="rect">
            <a:avLst/>
          </a:prstGeom>
          <a:noFill/>
        </p:spPr>
        <p:txBody>
          <a:bodyPr wrap="square" rtlCol="0">
            <a:spAutoFit/>
          </a:bodyPr>
          <a:lstStyle/>
          <a:p>
            <a:r>
              <a:rPr lang="en-US" sz="3600" b="1" dirty="0">
                <a:solidFill>
                  <a:srgbClr val="ED771F"/>
                </a:solidFill>
              </a:rPr>
              <a:t>Objective</a:t>
            </a:r>
            <a:endParaRPr lang="en-IN" sz="3600" b="1" dirty="0">
              <a:solidFill>
                <a:srgbClr val="ED771F"/>
              </a:solidFill>
            </a:endParaRPr>
          </a:p>
        </p:txBody>
      </p:sp>
      <p:sp>
        <p:nvSpPr>
          <p:cNvPr id="16" name="Rectangle: Rounded Corners 15">
            <a:extLst>
              <a:ext uri="{FF2B5EF4-FFF2-40B4-BE49-F238E27FC236}">
                <a16:creationId xmlns:a16="http://schemas.microsoft.com/office/drawing/2014/main" id="{6005EFFA-60F3-8250-F79F-B1F056279B65}"/>
              </a:ext>
            </a:extLst>
          </p:cNvPr>
          <p:cNvSpPr/>
          <p:nvPr/>
        </p:nvSpPr>
        <p:spPr>
          <a:xfrm>
            <a:off x="566774" y="5164102"/>
            <a:ext cx="11153239" cy="1313621"/>
          </a:xfrm>
          <a:prstGeom prst="roundRect">
            <a:avLst/>
          </a:prstGeom>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IN" sz="2800" dirty="0"/>
              <a:t>Missing Data, Outliers, External Factors.</a:t>
            </a:r>
          </a:p>
        </p:txBody>
      </p:sp>
      <p:sp>
        <p:nvSpPr>
          <p:cNvPr id="18" name="TextBox 17">
            <a:extLst>
              <a:ext uri="{FF2B5EF4-FFF2-40B4-BE49-F238E27FC236}">
                <a16:creationId xmlns:a16="http://schemas.microsoft.com/office/drawing/2014/main" id="{010B5AFA-B142-19CF-F1C7-911A4AD2DD76}"/>
              </a:ext>
            </a:extLst>
          </p:cNvPr>
          <p:cNvSpPr txBox="1"/>
          <p:nvPr/>
        </p:nvSpPr>
        <p:spPr>
          <a:xfrm>
            <a:off x="555056" y="4534619"/>
            <a:ext cx="3213651" cy="646331"/>
          </a:xfrm>
          <a:prstGeom prst="rect">
            <a:avLst/>
          </a:prstGeom>
          <a:noFill/>
        </p:spPr>
        <p:txBody>
          <a:bodyPr wrap="square" rtlCol="0">
            <a:spAutoFit/>
          </a:bodyPr>
          <a:lstStyle/>
          <a:p>
            <a:r>
              <a:rPr lang="en-US" sz="3600" b="1" dirty="0">
                <a:solidFill>
                  <a:srgbClr val="ED771F"/>
                </a:solidFill>
              </a:rPr>
              <a:t>Challenges</a:t>
            </a:r>
            <a:endParaRPr lang="en-IN" sz="3600" b="1" dirty="0">
              <a:solidFill>
                <a:srgbClr val="ED771F"/>
              </a:solidFill>
            </a:endParaRPr>
          </a:p>
        </p:txBody>
      </p:sp>
      <p:sp>
        <p:nvSpPr>
          <p:cNvPr id="5" name="TextBox 4">
            <a:extLst>
              <a:ext uri="{FF2B5EF4-FFF2-40B4-BE49-F238E27FC236}">
                <a16:creationId xmlns:a16="http://schemas.microsoft.com/office/drawing/2014/main" id="{9A071ED4-54E1-A19E-2909-47CD2B222839}"/>
              </a:ext>
            </a:extLst>
          </p:cNvPr>
          <p:cNvSpPr txBox="1"/>
          <p:nvPr/>
        </p:nvSpPr>
        <p:spPr>
          <a:xfrm>
            <a:off x="9940" y="6500189"/>
            <a:ext cx="4346126" cy="369332"/>
          </a:xfrm>
          <a:prstGeom prst="rect">
            <a:avLst/>
          </a:prstGeom>
          <a:noFill/>
        </p:spPr>
        <p:txBody>
          <a:bodyPr wrap="none" rtlCol="0">
            <a:spAutoFit/>
          </a:bodyPr>
          <a:lstStyle/>
          <a:p>
            <a:r>
              <a:rPr lang="en-US" dirty="0"/>
              <a:t>Submitted for the Mini Project #3 of CAP776</a:t>
            </a:r>
            <a:endParaRPr lang="en-IN" dirty="0"/>
          </a:p>
        </p:txBody>
      </p:sp>
    </p:spTree>
    <p:extLst>
      <p:ext uri="{BB962C8B-B14F-4D97-AF65-F5344CB8AC3E}">
        <p14:creationId xmlns:p14="http://schemas.microsoft.com/office/powerpoint/2010/main" val="3197738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7228-D3FE-4D7E-81D1-8C9DC665DE8B}"/>
              </a:ext>
            </a:extLst>
          </p:cNvPr>
          <p:cNvSpPr>
            <a:spLocks noGrp="1"/>
          </p:cNvSpPr>
          <p:nvPr>
            <p:ph type="ctrTitle"/>
          </p:nvPr>
        </p:nvSpPr>
        <p:spPr>
          <a:xfrm>
            <a:off x="861635" y="53661"/>
            <a:ext cx="8975276" cy="779082"/>
          </a:xfrm>
        </p:spPr>
        <p:txBody>
          <a:bodyPr rtlCol="0">
            <a:noAutofit/>
          </a:bodyPr>
          <a:lstStyle/>
          <a:p>
            <a:pPr algn="l" eaLnBrk="1" fontAlgn="auto" hangingPunct="1">
              <a:spcAft>
                <a:spcPts val="0"/>
              </a:spcAft>
              <a:defRPr/>
            </a:pPr>
            <a:r>
              <a:rPr lang="en-US" sz="5000" b="1" dirty="0">
                <a:solidFill>
                  <a:schemeClr val="tx2">
                    <a:lumMod val="50000"/>
                  </a:schemeClr>
                </a:solidFill>
                <a:latin typeface="Montserrat" panose="00000500000000000000" pitchFamily="2" charset="0"/>
              </a:rPr>
              <a:t>The data captured</a:t>
            </a:r>
            <a:endParaRPr lang="en-IN" sz="5000" dirty="0">
              <a:solidFill>
                <a:srgbClr val="C00000"/>
              </a:solidFill>
              <a:latin typeface="Broadway" pitchFamily="82" charset="0"/>
            </a:endParaRPr>
          </a:p>
        </p:txBody>
      </p:sp>
      <p:cxnSp>
        <p:nvCxnSpPr>
          <p:cNvPr id="6" name="Straight Connector 5">
            <a:extLst>
              <a:ext uri="{FF2B5EF4-FFF2-40B4-BE49-F238E27FC236}">
                <a16:creationId xmlns:a16="http://schemas.microsoft.com/office/drawing/2014/main" id="{488803DA-0FB5-4367-A46D-E94D6C7D8915}"/>
              </a:ext>
            </a:extLst>
          </p:cNvPr>
          <p:cNvCxnSpPr>
            <a:cxnSpLocks/>
          </p:cNvCxnSpPr>
          <p:nvPr/>
        </p:nvCxnSpPr>
        <p:spPr>
          <a:xfrm flipV="1">
            <a:off x="533400" y="729984"/>
            <a:ext cx="9303511" cy="38100"/>
          </a:xfrm>
          <a:prstGeom prst="line">
            <a:avLst/>
          </a:prstGeom>
        </p:spPr>
        <p:style>
          <a:lnRef idx="3">
            <a:schemeClr val="accent6"/>
          </a:lnRef>
          <a:fillRef idx="0">
            <a:schemeClr val="accent6"/>
          </a:fillRef>
          <a:effectRef idx="2">
            <a:schemeClr val="accent6"/>
          </a:effectRef>
          <a:fontRef idx="minor">
            <a:schemeClr val="tx1"/>
          </a:fontRef>
        </p:style>
      </p:cxnSp>
      <p:sp>
        <p:nvSpPr>
          <p:cNvPr id="3" name="Triangle 15">
            <a:extLst>
              <a:ext uri="{FF2B5EF4-FFF2-40B4-BE49-F238E27FC236}">
                <a16:creationId xmlns:a16="http://schemas.microsoft.com/office/drawing/2014/main" id="{123942CB-FF6D-3EDF-8CE2-2045441A1B8B}"/>
              </a:ext>
            </a:extLst>
          </p:cNvPr>
          <p:cNvSpPr/>
          <p:nvPr/>
        </p:nvSpPr>
        <p:spPr>
          <a:xfrm rot="10800000">
            <a:off x="228600" y="117760"/>
            <a:ext cx="633037" cy="544731"/>
          </a:xfrm>
          <a:prstGeom prst="triangle">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1CAF5E16-C343-3C78-B173-7F2D23AE9DE7}"/>
              </a:ext>
            </a:extLst>
          </p:cNvPr>
          <p:cNvPicPr>
            <a:picLocks noChangeAspect="1"/>
          </p:cNvPicPr>
          <p:nvPr/>
        </p:nvPicPr>
        <p:blipFill>
          <a:blip r:embed="rId2"/>
          <a:stretch>
            <a:fillRect/>
          </a:stretch>
        </p:blipFill>
        <p:spPr>
          <a:xfrm>
            <a:off x="9836912" y="50267"/>
            <a:ext cx="2126489" cy="679717"/>
          </a:xfrm>
          <a:prstGeom prst="rect">
            <a:avLst/>
          </a:prstGeom>
        </p:spPr>
      </p:pic>
      <p:sp>
        <p:nvSpPr>
          <p:cNvPr id="9" name="Rectangle 8">
            <a:extLst>
              <a:ext uri="{FF2B5EF4-FFF2-40B4-BE49-F238E27FC236}">
                <a16:creationId xmlns:a16="http://schemas.microsoft.com/office/drawing/2014/main" id="{01BC3F88-7188-26A2-B040-51F18EC8EEF8}"/>
              </a:ext>
            </a:extLst>
          </p:cNvPr>
          <p:cNvSpPr/>
          <p:nvPr/>
        </p:nvSpPr>
        <p:spPr>
          <a:xfrm>
            <a:off x="0" y="6873690"/>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77A6C3EC-F062-7F3B-9B6D-C983BA7F4228}"/>
              </a:ext>
            </a:extLst>
          </p:cNvPr>
          <p:cNvSpPr/>
          <p:nvPr/>
        </p:nvSpPr>
        <p:spPr>
          <a:xfrm>
            <a:off x="0" y="6804339"/>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2D02AA1F-A935-4D59-DEA0-3B1C64143820}"/>
              </a:ext>
            </a:extLst>
          </p:cNvPr>
          <p:cNvSpPr txBox="1"/>
          <p:nvPr/>
        </p:nvSpPr>
        <p:spPr>
          <a:xfrm>
            <a:off x="4229758" y="6473107"/>
            <a:ext cx="7972182" cy="369332"/>
          </a:xfrm>
          <a:prstGeom prst="rect">
            <a:avLst/>
          </a:prstGeom>
          <a:noFill/>
        </p:spPr>
        <p:txBody>
          <a:bodyPr wrap="none" rtlCol="0">
            <a:spAutoFit/>
          </a:bodyPr>
          <a:lstStyle/>
          <a:p>
            <a:pPr algn="r"/>
            <a:r>
              <a:rPr lang="en-US" dirty="0"/>
              <a:t>Name: Jay Dev                                Reg. No.    12322566                 Section:    DE328      </a:t>
            </a:r>
            <a:endParaRPr lang="en-IN" dirty="0"/>
          </a:p>
        </p:txBody>
      </p:sp>
      <p:sp>
        <p:nvSpPr>
          <p:cNvPr id="8" name="Rectangle: Rounded Corners 7">
            <a:extLst>
              <a:ext uri="{FF2B5EF4-FFF2-40B4-BE49-F238E27FC236}">
                <a16:creationId xmlns:a16="http://schemas.microsoft.com/office/drawing/2014/main" id="{3B326FDD-3411-9B67-7D58-063D14ACB235}"/>
              </a:ext>
            </a:extLst>
          </p:cNvPr>
          <p:cNvSpPr/>
          <p:nvPr/>
        </p:nvSpPr>
        <p:spPr>
          <a:xfrm>
            <a:off x="545118" y="1367925"/>
            <a:ext cx="11153239" cy="5005853"/>
          </a:xfrm>
          <a:prstGeom prst="roundRect">
            <a:avLst/>
          </a:prstGeom>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t"/>
          <a:lstStyle/>
          <a:p>
            <a:r>
              <a:rPr lang="en-US" sz="2800" i="1" dirty="0"/>
              <a:t>Describe your data using </a:t>
            </a:r>
            <a:r>
              <a:rPr lang="en-US" sz="2800" i="1" dirty="0" err="1"/>
              <a:t>df.head</a:t>
            </a:r>
            <a:r>
              <a:rPr lang="en-US" sz="2800" i="1" dirty="0"/>
              <a:t>() and df.info()</a:t>
            </a:r>
            <a:endParaRPr lang="en-IN" sz="2800" i="1" dirty="0"/>
          </a:p>
        </p:txBody>
      </p:sp>
      <p:sp>
        <p:nvSpPr>
          <p:cNvPr id="10" name="TextBox 9">
            <a:extLst>
              <a:ext uri="{FF2B5EF4-FFF2-40B4-BE49-F238E27FC236}">
                <a16:creationId xmlns:a16="http://schemas.microsoft.com/office/drawing/2014/main" id="{B9D3264E-8466-26EF-B2A3-EB153BF83C91}"/>
              </a:ext>
            </a:extLst>
          </p:cNvPr>
          <p:cNvSpPr txBox="1"/>
          <p:nvPr/>
        </p:nvSpPr>
        <p:spPr>
          <a:xfrm>
            <a:off x="533400" y="738442"/>
            <a:ext cx="5161722" cy="646331"/>
          </a:xfrm>
          <a:prstGeom prst="rect">
            <a:avLst/>
          </a:prstGeom>
          <a:noFill/>
        </p:spPr>
        <p:txBody>
          <a:bodyPr wrap="square" rtlCol="0">
            <a:spAutoFit/>
          </a:bodyPr>
          <a:lstStyle/>
          <a:p>
            <a:r>
              <a:rPr lang="en-US" sz="3600" b="1" dirty="0">
                <a:solidFill>
                  <a:srgbClr val="ED771F"/>
                </a:solidFill>
              </a:rPr>
              <a:t>Data description</a:t>
            </a:r>
            <a:endParaRPr lang="en-IN" sz="3600" b="1" dirty="0">
              <a:solidFill>
                <a:srgbClr val="ED771F"/>
              </a:solidFill>
            </a:endParaRPr>
          </a:p>
        </p:txBody>
      </p:sp>
      <p:sp>
        <p:nvSpPr>
          <p:cNvPr id="11" name="TextBox 10">
            <a:extLst>
              <a:ext uri="{FF2B5EF4-FFF2-40B4-BE49-F238E27FC236}">
                <a16:creationId xmlns:a16="http://schemas.microsoft.com/office/drawing/2014/main" id="{8108C34D-FD99-D566-CE7C-0411039874B6}"/>
              </a:ext>
            </a:extLst>
          </p:cNvPr>
          <p:cNvSpPr txBox="1"/>
          <p:nvPr/>
        </p:nvSpPr>
        <p:spPr>
          <a:xfrm>
            <a:off x="9940" y="6500189"/>
            <a:ext cx="4346126" cy="369332"/>
          </a:xfrm>
          <a:prstGeom prst="rect">
            <a:avLst/>
          </a:prstGeom>
          <a:noFill/>
        </p:spPr>
        <p:txBody>
          <a:bodyPr wrap="none" rtlCol="0">
            <a:spAutoFit/>
          </a:bodyPr>
          <a:lstStyle/>
          <a:p>
            <a:r>
              <a:rPr lang="en-US" dirty="0"/>
              <a:t>Submitted for the Mini Project #3 of CAP776</a:t>
            </a:r>
            <a:endParaRPr lang="en-IN" dirty="0"/>
          </a:p>
        </p:txBody>
      </p:sp>
      <p:pic>
        <p:nvPicPr>
          <p:cNvPr id="14" name="Picture 13">
            <a:extLst>
              <a:ext uri="{FF2B5EF4-FFF2-40B4-BE49-F238E27FC236}">
                <a16:creationId xmlns:a16="http://schemas.microsoft.com/office/drawing/2014/main" id="{43846531-BFBC-997A-CE82-130CEE616A00}"/>
              </a:ext>
            </a:extLst>
          </p:cNvPr>
          <p:cNvPicPr>
            <a:picLocks noChangeAspect="1"/>
          </p:cNvPicPr>
          <p:nvPr/>
        </p:nvPicPr>
        <p:blipFill>
          <a:blip r:embed="rId3"/>
          <a:stretch>
            <a:fillRect/>
          </a:stretch>
        </p:blipFill>
        <p:spPr>
          <a:xfrm>
            <a:off x="7014574" y="2496374"/>
            <a:ext cx="4562301" cy="2351199"/>
          </a:xfrm>
          <a:prstGeom prst="rect">
            <a:avLst/>
          </a:prstGeom>
        </p:spPr>
      </p:pic>
      <p:pic>
        <p:nvPicPr>
          <p:cNvPr id="16" name="Picture 15">
            <a:extLst>
              <a:ext uri="{FF2B5EF4-FFF2-40B4-BE49-F238E27FC236}">
                <a16:creationId xmlns:a16="http://schemas.microsoft.com/office/drawing/2014/main" id="{0F93897B-A3E2-2EE2-5750-AEEDB5B726F8}"/>
              </a:ext>
            </a:extLst>
          </p:cNvPr>
          <p:cNvPicPr>
            <a:picLocks noChangeAspect="1"/>
          </p:cNvPicPr>
          <p:nvPr/>
        </p:nvPicPr>
        <p:blipFill>
          <a:blip r:embed="rId4"/>
          <a:stretch>
            <a:fillRect/>
          </a:stretch>
        </p:blipFill>
        <p:spPr>
          <a:xfrm>
            <a:off x="827444" y="2511011"/>
            <a:ext cx="5984459" cy="2336562"/>
          </a:xfrm>
          <a:prstGeom prst="rect">
            <a:avLst/>
          </a:prstGeom>
        </p:spPr>
      </p:pic>
    </p:spTree>
    <p:extLst>
      <p:ext uri="{BB962C8B-B14F-4D97-AF65-F5344CB8AC3E}">
        <p14:creationId xmlns:p14="http://schemas.microsoft.com/office/powerpoint/2010/main" val="4071948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7228-D3FE-4D7E-81D1-8C9DC665DE8B}"/>
              </a:ext>
            </a:extLst>
          </p:cNvPr>
          <p:cNvSpPr>
            <a:spLocks noGrp="1"/>
          </p:cNvSpPr>
          <p:nvPr>
            <p:ph type="ctrTitle"/>
          </p:nvPr>
        </p:nvSpPr>
        <p:spPr>
          <a:xfrm>
            <a:off x="861635" y="53661"/>
            <a:ext cx="8975276" cy="779082"/>
          </a:xfrm>
        </p:spPr>
        <p:txBody>
          <a:bodyPr rtlCol="0">
            <a:noAutofit/>
          </a:bodyPr>
          <a:lstStyle/>
          <a:p>
            <a:pPr algn="l" eaLnBrk="1" fontAlgn="auto" hangingPunct="1">
              <a:spcAft>
                <a:spcPts val="0"/>
              </a:spcAft>
              <a:defRPr/>
            </a:pPr>
            <a:r>
              <a:rPr lang="en-US" sz="5000" b="1" dirty="0">
                <a:solidFill>
                  <a:schemeClr val="tx2">
                    <a:lumMod val="50000"/>
                  </a:schemeClr>
                </a:solidFill>
                <a:latin typeface="Montserrat" panose="00000500000000000000" pitchFamily="2" charset="0"/>
              </a:rPr>
              <a:t>Story board #1</a:t>
            </a:r>
            <a:endParaRPr lang="en-IN" sz="5000" dirty="0">
              <a:solidFill>
                <a:srgbClr val="C00000"/>
              </a:solidFill>
              <a:latin typeface="Broadway" pitchFamily="82" charset="0"/>
            </a:endParaRPr>
          </a:p>
        </p:txBody>
      </p:sp>
      <p:cxnSp>
        <p:nvCxnSpPr>
          <p:cNvPr id="6" name="Straight Connector 5">
            <a:extLst>
              <a:ext uri="{FF2B5EF4-FFF2-40B4-BE49-F238E27FC236}">
                <a16:creationId xmlns:a16="http://schemas.microsoft.com/office/drawing/2014/main" id="{488803DA-0FB5-4367-A46D-E94D6C7D8915}"/>
              </a:ext>
            </a:extLst>
          </p:cNvPr>
          <p:cNvCxnSpPr>
            <a:cxnSpLocks/>
          </p:cNvCxnSpPr>
          <p:nvPr/>
        </p:nvCxnSpPr>
        <p:spPr>
          <a:xfrm flipV="1">
            <a:off x="533400" y="729984"/>
            <a:ext cx="9303511" cy="38100"/>
          </a:xfrm>
          <a:prstGeom prst="line">
            <a:avLst/>
          </a:prstGeom>
        </p:spPr>
        <p:style>
          <a:lnRef idx="3">
            <a:schemeClr val="accent6"/>
          </a:lnRef>
          <a:fillRef idx="0">
            <a:schemeClr val="accent6"/>
          </a:fillRef>
          <a:effectRef idx="2">
            <a:schemeClr val="accent6"/>
          </a:effectRef>
          <a:fontRef idx="minor">
            <a:schemeClr val="tx1"/>
          </a:fontRef>
        </p:style>
      </p:cxnSp>
      <p:sp>
        <p:nvSpPr>
          <p:cNvPr id="3" name="Triangle 15">
            <a:extLst>
              <a:ext uri="{FF2B5EF4-FFF2-40B4-BE49-F238E27FC236}">
                <a16:creationId xmlns:a16="http://schemas.microsoft.com/office/drawing/2014/main" id="{123942CB-FF6D-3EDF-8CE2-2045441A1B8B}"/>
              </a:ext>
            </a:extLst>
          </p:cNvPr>
          <p:cNvSpPr/>
          <p:nvPr/>
        </p:nvSpPr>
        <p:spPr>
          <a:xfrm rot="10800000">
            <a:off x="228600" y="117760"/>
            <a:ext cx="633037" cy="544731"/>
          </a:xfrm>
          <a:prstGeom prst="triangle">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1CAF5E16-C343-3C78-B173-7F2D23AE9DE7}"/>
              </a:ext>
            </a:extLst>
          </p:cNvPr>
          <p:cNvPicPr>
            <a:picLocks noChangeAspect="1"/>
          </p:cNvPicPr>
          <p:nvPr/>
        </p:nvPicPr>
        <p:blipFill>
          <a:blip r:embed="rId2"/>
          <a:stretch>
            <a:fillRect/>
          </a:stretch>
        </p:blipFill>
        <p:spPr>
          <a:xfrm>
            <a:off x="9836912" y="50267"/>
            <a:ext cx="2126489" cy="679717"/>
          </a:xfrm>
          <a:prstGeom prst="rect">
            <a:avLst/>
          </a:prstGeom>
        </p:spPr>
      </p:pic>
      <p:sp>
        <p:nvSpPr>
          <p:cNvPr id="9" name="Rectangle 8">
            <a:extLst>
              <a:ext uri="{FF2B5EF4-FFF2-40B4-BE49-F238E27FC236}">
                <a16:creationId xmlns:a16="http://schemas.microsoft.com/office/drawing/2014/main" id="{01BC3F88-7188-26A2-B040-51F18EC8EEF8}"/>
              </a:ext>
            </a:extLst>
          </p:cNvPr>
          <p:cNvSpPr/>
          <p:nvPr/>
        </p:nvSpPr>
        <p:spPr>
          <a:xfrm>
            <a:off x="0" y="6873690"/>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77A6C3EC-F062-7F3B-9B6D-C983BA7F4228}"/>
              </a:ext>
            </a:extLst>
          </p:cNvPr>
          <p:cNvSpPr/>
          <p:nvPr/>
        </p:nvSpPr>
        <p:spPr>
          <a:xfrm>
            <a:off x="0" y="6804339"/>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FF76A093-B2B9-A360-F829-B21355A310A1}"/>
              </a:ext>
            </a:extLst>
          </p:cNvPr>
          <p:cNvSpPr txBox="1"/>
          <p:nvPr/>
        </p:nvSpPr>
        <p:spPr>
          <a:xfrm>
            <a:off x="4229758" y="6473107"/>
            <a:ext cx="7972182" cy="369332"/>
          </a:xfrm>
          <a:prstGeom prst="rect">
            <a:avLst/>
          </a:prstGeom>
          <a:noFill/>
        </p:spPr>
        <p:txBody>
          <a:bodyPr wrap="none" rtlCol="0">
            <a:spAutoFit/>
          </a:bodyPr>
          <a:lstStyle/>
          <a:p>
            <a:pPr algn="r"/>
            <a:r>
              <a:rPr lang="en-US" dirty="0"/>
              <a:t>Name:     Jay Dev                            Reg. No.  12322566                   Section:  DE328        </a:t>
            </a:r>
            <a:endParaRPr lang="en-IN" dirty="0"/>
          </a:p>
        </p:txBody>
      </p:sp>
      <p:sp>
        <p:nvSpPr>
          <p:cNvPr id="8" name="TextBox 7">
            <a:extLst>
              <a:ext uri="{FF2B5EF4-FFF2-40B4-BE49-F238E27FC236}">
                <a16:creationId xmlns:a16="http://schemas.microsoft.com/office/drawing/2014/main" id="{FDC898EB-A301-30B6-F57D-FCFD36F87E75}"/>
              </a:ext>
            </a:extLst>
          </p:cNvPr>
          <p:cNvSpPr txBox="1"/>
          <p:nvPr/>
        </p:nvSpPr>
        <p:spPr>
          <a:xfrm>
            <a:off x="533400" y="787439"/>
            <a:ext cx="4164496" cy="369332"/>
          </a:xfrm>
          <a:prstGeom prst="rect">
            <a:avLst/>
          </a:prstGeom>
          <a:noFill/>
        </p:spPr>
        <p:txBody>
          <a:bodyPr wrap="square" rtlCol="0">
            <a:spAutoFit/>
          </a:bodyPr>
          <a:lstStyle/>
          <a:p>
            <a:r>
              <a:rPr lang="en-US" i="1" dirty="0">
                <a:solidFill>
                  <a:schemeClr val="bg1">
                    <a:lumMod val="65000"/>
                  </a:schemeClr>
                </a:solidFill>
              </a:rPr>
              <a:t>Graphical representation of data</a:t>
            </a:r>
            <a:endParaRPr lang="en-IN" i="1" dirty="0">
              <a:solidFill>
                <a:schemeClr val="bg1">
                  <a:lumMod val="65000"/>
                </a:schemeClr>
              </a:solidFill>
            </a:endParaRPr>
          </a:p>
        </p:txBody>
      </p:sp>
      <p:sp>
        <p:nvSpPr>
          <p:cNvPr id="10" name="TextBox 9">
            <a:extLst>
              <a:ext uri="{FF2B5EF4-FFF2-40B4-BE49-F238E27FC236}">
                <a16:creationId xmlns:a16="http://schemas.microsoft.com/office/drawing/2014/main" id="{59D03020-2AE7-7193-8A5B-E16F44DA3169}"/>
              </a:ext>
            </a:extLst>
          </p:cNvPr>
          <p:cNvSpPr txBox="1"/>
          <p:nvPr/>
        </p:nvSpPr>
        <p:spPr>
          <a:xfrm>
            <a:off x="9940" y="6500189"/>
            <a:ext cx="4346126" cy="369332"/>
          </a:xfrm>
          <a:prstGeom prst="rect">
            <a:avLst/>
          </a:prstGeom>
          <a:noFill/>
        </p:spPr>
        <p:txBody>
          <a:bodyPr wrap="none" rtlCol="0">
            <a:spAutoFit/>
          </a:bodyPr>
          <a:lstStyle/>
          <a:p>
            <a:r>
              <a:rPr lang="en-US" dirty="0"/>
              <a:t>Submitted for the Mini Project #3 of CAP776</a:t>
            </a:r>
            <a:endParaRPr lang="en-IN" dirty="0"/>
          </a:p>
        </p:txBody>
      </p:sp>
      <p:pic>
        <p:nvPicPr>
          <p:cNvPr id="11" name="Picture 10">
            <a:extLst>
              <a:ext uri="{FF2B5EF4-FFF2-40B4-BE49-F238E27FC236}">
                <a16:creationId xmlns:a16="http://schemas.microsoft.com/office/drawing/2014/main" id="{51309FE2-003B-8F44-F15F-9888B29A66F4}"/>
              </a:ext>
            </a:extLst>
          </p:cNvPr>
          <p:cNvPicPr>
            <a:picLocks noChangeAspect="1"/>
          </p:cNvPicPr>
          <p:nvPr/>
        </p:nvPicPr>
        <p:blipFill>
          <a:blip r:embed="rId3"/>
          <a:stretch>
            <a:fillRect/>
          </a:stretch>
        </p:blipFill>
        <p:spPr>
          <a:xfrm>
            <a:off x="1678487" y="1200287"/>
            <a:ext cx="8675187" cy="5170061"/>
          </a:xfrm>
          <a:prstGeom prst="rect">
            <a:avLst/>
          </a:prstGeom>
        </p:spPr>
      </p:pic>
    </p:spTree>
    <p:extLst>
      <p:ext uri="{BB962C8B-B14F-4D97-AF65-F5344CB8AC3E}">
        <p14:creationId xmlns:p14="http://schemas.microsoft.com/office/powerpoint/2010/main" val="3180440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7228-D3FE-4D7E-81D1-8C9DC665DE8B}"/>
              </a:ext>
            </a:extLst>
          </p:cNvPr>
          <p:cNvSpPr>
            <a:spLocks noGrp="1"/>
          </p:cNvSpPr>
          <p:nvPr>
            <p:ph type="ctrTitle"/>
          </p:nvPr>
        </p:nvSpPr>
        <p:spPr>
          <a:xfrm>
            <a:off x="861635" y="53661"/>
            <a:ext cx="8975276" cy="779082"/>
          </a:xfrm>
        </p:spPr>
        <p:txBody>
          <a:bodyPr rtlCol="0">
            <a:noAutofit/>
          </a:bodyPr>
          <a:lstStyle/>
          <a:p>
            <a:pPr algn="l" eaLnBrk="1" fontAlgn="auto" hangingPunct="1">
              <a:spcAft>
                <a:spcPts val="0"/>
              </a:spcAft>
              <a:defRPr/>
            </a:pPr>
            <a:r>
              <a:rPr lang="en-US" sz="5000" b="1" dirty="0">
                <a:solidFill>
                  <a:schemeClr val="tx2">
                    <a:lumMod val="50000"/>
                  </a:schemeClr>
                </a:solidFill>
                <a:latin typeface="Montserrat" panose="00000500000000000000" pitchFamily="2" charset="0"/>
              </a:rPr>
              <a:t>Story board #2</a:t>
            </a:r>
            <a:endParaRPr lang="en-IN" sz="5000" dirty="0">
              <a:solidFill>
                <a:srgbClr val="C00000"/>
              </a:solidFill>
              <a:latin typeface="Broadway" pitchFamily="82" charset="0"/>
            </a:endParaRPr>
          </a:p>
        </p:txBody>
      </p:sp>
      <p:cxnSp>
        <p:nvCxnSpPr>
          <p:cNvPr id="6" name="Straight Connector 5">
            <a:extLst>
              <a:ext uri="{FF2B5EF4-FFF2-40B4-BE49-F238E27FC236}">
                <a16:creationId xmlns:a16="http://schemas.microsoft.com/office/drawing/2014/main" id="{488803DA-0FB5-4367-A46D-E94D6C7D8915}"/>
              </a:ext>
            </a:extLst>
          </p:cNvPr>
          <p:cNvCxnSpPr>
            <a:cxnSpLocks/>
          </p:cNvCxnSpPr>
          <p:nvPr/>
        </p:nvCxnSpPr>
        <p:spPr>
          <a:xfrm flipV="1">
            <a:off x="533400" y="729984"/>
            <a:ext cx="9303511" cy="38100"/>
          </a:xfrm>
          <a:prstGeom prst="line">
            <a:avLst/>
          </a:prstGeom>
        </p:spPr>
        <p:style>
          <a:lnRef idx="3">
            <a:schemeClr val="accent6"/>
          </a:lnRef>
          <a:fillRef idx="0">
            <a:schemeClr val="accent6"/>
          </a:fillRef>
          <a:effectRef idx="2">
            <a:schemeClr val="accent6"/>
          </a:effectRef>
          <a:fontRef idx="minor">
            <a:schemeClr val="tx1"/>
          </a:fontRef>
        </p:style>
      </p:cxnSp>
      <p:sp>
        <p:nvSpPr>
          <p:cNvPr id="3" name="Triangle 15">
            <a:extLst>
              <a:ext uri="{FF2B5EF4-FFF2-40B4-BE49-F238E27FC236}">
                <a16:creationId xmlns:a16="http://schemas.microsoft.com/office/drawing/2014/main" id="{123942CB-FF6D-3EDF-8CE2-2045441A1B8B}"/>
              </a:ext>
            </a:extLst>
          </p:cNvPr>
          <p:cNvSpPr/>
          <p:nvPr/>
        </p:nvSpPr>
        <p:spPr>
          <a:xfrm rot="10800000">
            <a:off x="228600" y="117760"/>
            <a:ext cx="633037" cy="544731"/>
          </a:xfrm>
          <a:prstGeom prst="triangle">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1CAF5E16-C343-3C78-B173-7F2D23AE9DE7}"/>
              </a:ext>
            </a:extLst>
          </p:cNvPr>
          <p:cNvPicPr>
            <a:picLocks noChangeAspect="1"/>
          </p:cNvPicPr>
          <p:nvPr/>
        </p:nvPicPr>
        <p:blipFill>
          <a:blip r:embed="rId2"/>
          <a:stretch>
            <a:fillRect/>
          </a:stretch>
        </p:blipFill>
        <p:spPr>
          <a:xfrm>
            <a:off x="9836912" y="50267"/>
            <a:ext cx="2126489" cy="679717"/>
          </a:xfrm>
          <a:prstGeom prst="rect">
            <a:avLst/>
          </a:prstGeom>
        </p:spPr>
      </p:pic>
      <p:sp>
        <p:nvSpPr>
          <p:cNvPr id="9" name="Rectangle 8">
            <a:extLst>
              <a:ext uri="{FF2B5EF4-FFF2-40B4-BE49-F238E27FC236}">
                <a16:creationId xmlns:a16="http://schemas.microsoft.com/office/drawing/2014/main" id="{01BC3F88-7188-26A2-B040-51F18EC8EEF8}"/>
              </a:ext>
            </a:extLst>
          </p:cNvPr>
          <p:cNvSpPr/>
          <p:nvPr/>
        </p:nvSpPr>
        <p:spPr>
          <a:xfrm>
            <a:off x="0" y="6873690"/>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77A6C3EC-F062-7F3B-9B6D-C983BA7F4228}"/>
              </a:ext>
            </a:extLst>
          </p:cNvPr>
          <p:cNvSpPr/>
          <p:nvPr/>
        </p:nvSpPr>
        <p:spPr>
          <a:xfrm>
            <a:off x="0" y="6804339"/>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FF76A093-B2B9-A360-F829-B21355A310A1}"/>
              </a:ext>
            </a:extLst>
          </p:cNvPr>
          <p:cNvSpPr txBox="1"/>
          <p:nvPr/>
        </p:nvSpPr>
        <p:spPr>
          <a:xfrm>
            <a:off x="4229758" y="6473107"/>
            <a:ext cx="7972182" cy="369332"/>
          </a:xfrm>
          <a:prstGeom prst="rect">
            <a:avLst/>
          </a:prstGeom>
          <a:noFill/>
        </p:spPr>
        <p:txBody>
          <a:bodyPr wrap="none" rtlCol="0">
            <a:spAutoFit/>
          </a:bodyPr>
          <a:lstStyle/>
          <a:p>
            <a:pPr algn="r"/>
            <a:r>
              <a:rPr lang="en-US" dirty="0"/>
              <a:t>Name:  Jay Dev                               Reg. No.  12322566                   Section:   DE328       </a:t>
            </a:r>
            <a:endParaRPr lang="en-IN" dirty="0"/>
          </a:p>
        </p:txBody>
      </p:sp>
      <p:sp>
        <p:nvSpPr>
          <p:cNvPr id="8" name="TextBox 7">
            <a:extLst>
              <a:ext uri="{FF2B5EF4-FFF2-40B4-BE49-F238E27FC236}">
                <a16:creationId xmlns:a16="http://schemas.microsoft.com/office/drawing/2014/main" id="{23F0D024-3CE0-DFE3-7AF5-AC8B890ADCA7}"/>
              </a:ext>
            </a:extLst>
          </p:cNvPr>
          <p:cNvSpPr txBox="1"/>
          <p:nvPr/>
        </p:nvSpPr>
        <p:spPr>
          <a:xfrm>
            <a:off x="533400" y="787439"/>
            <a:ext cx="4164496" cy="369332"/>
          </a:xfrm>
          <a:prstGeom prst="rect">
            <a:avLst/>
          </a:prstGeom>
          <a:noFill/>
        </p:spPr>
        <p:txBody>
          <a:bodyPr wrap="square" rtlCol="0">
            <a:spAutoFit/>
          </a:bodyPr>
          <a:lstStyle/>
          <a:p>
            <a:r>
              <a:rPr lang="en-US" i="1" dirty="0">
                <a:solidFill>
                  <a:schemeClr val="bg1">
                    <a:lumMod val="65000"/>
                  </a:schemeClr>
                </a:solidFill>
              </a:rPr>
              <a:t>Graphical representation of data</a:t>
            </a:r>
            <a:endParaRPr lang="en-IN" i="1" dirty="0">
              <a:solidFill>
                <a:schemeClr val="bg1">
                  <a:lumMod val="65000"/>
                </a:schemeClr>
              </a:solidFill>
            </a:endParaRPr>
          </a:p>
        </p:txBody>
      </p:sp>
      <p:sp>
        <p:nvSpPr>
          <p:cNvPr id="10" name="TextBox 9">
            <a:extLst>
              <a:ext uri="{FF2B5EF4-FFF2-40B4-BE49-F238E27FC236}">
                <a16:creationId xmlns:a16="http://schemas.microsoft.com/office/drawing/2014/main" id="{8C68F999-2F18-A511-534E-E96D32496683}"/>
              </a:ext>
            </a:extLst>
          </p:cNvPr>
          <p:cNvSpPr txBox="1"/>
          <p:nvPr/>
        </p:nvSpPr>
        <p:spPr>
          <a:xfrm>
            <a:off x="9940" y="6500189"/>
            <a:ext cx="4346126" cy="369332"/>
          </a:xfrm>
          <a:prstGeom prst="rect">
            <a:avLst/>
          </a:prstGeom>
          <a:noFill/>
        </p:spPr>
        <p:txBody>
          <a:bodyPr wrap="none" rtlCol="0">
            <a:spAutoFit/>
          </a:bodyPr>
          <a:lstStyle/>
          <a:p>
            <a:r>
              <a:rPr lang="en-US" dirty="0"/>
              <a:t>Submitted for the Mini Project #3 of CAP776</a:t>
            </a:r>
            <a:endParaRPr lang="en-IN" dirty="0"/>
          </a:p>
        </p:txBody>
      </p:sp>
      <p:pic>
        <p:nvPicPr>
          <p:cNvPr id="12" name="Picture 11">
            <a:extLst>
              <a:ext uri="{FF2B5EF4-FFF2-40B4-BE49-F238E27FC236}">
                <a16:creationId xmlns:a16="http://schemas.microsoft.com/office/drawing/2014/main" id="{01B36414-E435-444D-A3A8-B82CB4550518}"/>
              </a:ext>
            </a:extLst>
          </p:cNvPr>
          <p:cNvPicPr>
            <a:picLocks noChangeAspect="1"/>
          </p:cNvPicPr>
          <p:nvPr/>
        </p:nvPicPr>
        <p:blipFill>
          <a:blip r:embed="rId3"/>
          <a:stretch>
            <a:fillRect/>
          </a:stretch>
        </p:blipFill>
        <p:spPr>
          <a:xfrm>
            <a:off x="1776412" y="1156771"/>
            <a:ext cx="8060499" cy="4808589"/>
          </a:xfrm>
          <a:prstGeom prst="rect">
            <a:avLst/>
          </a:prstGeom>
        </p:spPr>
      </p:pic>
    </p:spTree>
    <p:extLst>
      <p:ext uri="{BB962C8B-B14F-4D97-AF65-F5344CB8AC3E}">
        <p14:creationId xmlns:p14="http://schemas.microsoft.com/office/powerpoint/2010/main" val="4105201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31EB0-9C03-82D0-25E3-93FAA49CD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87E36-99F2-A1E1-8D5E-4F8681EF2410}"/>
              </a:ext>
            </a:extLst>
          </p:cNvPr>
          <p:cNvSpPr>
            <a:spLocks noGrp="1"/>
          </p:cNvSpPr>
          <p:nvPr>
            <p:ph type="ctrTitle"/>
          </p:nvPr>
        </p:nvSpPr>
        <p:spPr>
          <a:xfrm>
            <a:off x="861635" y="53661"/>
            <a:ext cx="8975276" cy="779082"/>
          </a:xfrm>
        </p:spPr>
        <p:txBody>
          <a:bodyPr rtlCol="0">
            <a:noAutofit/>
          </a:bodyPr>
          <a:lstStyle/>
          <a:p>
            <a:pPr algn="l" eaLnBrk="1" fontAlgn="auto" hangingPunct="1">
              <a:spcAft>
                <a:spcPts val="0"/>
              </a:spcAft>
              <a:defRPr/>
            </a:pPr>
            <a:r>
              <a:rPr lang="en-US" sz="5000" b="1" dirty="0">
                <a:solidFill>
                  <a:schemeClr val="tx2">
                    <a:lumMod val="50000"/>
                  </a:schemeClr>
                </a:solidFill>
                <a:latin typeface="Montserrat" panose="00000500000000000000" pitchFamily="2" charset="0"/>
              </a:rPr>
              <a:t>Story board #3</a:t>
            </a:r>
            <a:endParaRPr lang="en-IN" sz="5000" dirty="0">
              <a:solidFill>
                <a:srgbClr val="C00000"/>
              </a:solidFill>
              <a:latin typeface="Broadway" pitchFamily="82" charset="0"/>
            </a:endParaRPr>
          </a:p>
        </p:txBody>
      </p:sp>
      <p:cxnSp>
        <p:nvCxnSpPr>
          <p:cNvPr id="6" name="Straight Connector 5">
            <a:extLst>
              <a:ext uri="{FF2B5EF4-FFF2-40B4-BE49-F238E27FC236}">
                <a16:creationId xmlns:a16="http://schemas.microsoft.com/office/drawing/2014/main" id="{A373CF7F-71B8-0B91-DC7C-4C9DA7988D90}"/>
              </a:ext>
            </a:extLst>
          </p:cNvPr>
          <p:cNvCxnSpPr>
            <a:cxnSpLocks/>
          </p:cNvCxnSpPr>
          <p:nvPr/>
        </p:nvCxnSpPr>
        <p:spPr>
          <a:xfrm flipV="1">
            <a:off x="533400" y="729984"/>
            <a:ext cx="9303511" cy="38100"/>
          </a:xfrm>
          <a:prstGeom prst="line">
            <a:avLst/>
          </a:prstGeom>
        </p:spPr>
        <p:style>
          <a:lnRef idx="3">
            <a:schemeClr val="accent6"/>
          </a:lnRef>
          <a:fillRef idx="0">
            <a:schemeClr val="accent6"/>
          </a:fillRef>
          <a:effectRef idx="2">
            <a:schemeClr val="accent6"/>
          </a:effectRef>
          <a:fontRef idx="minor">
            <a:schemeClr val="tx1"/>
          </a:fontRef>
        </p:style>
      </p:cxnSp>
      <p:sp>
        <p:nvSpPr>
          <p:cNvPr id="3" name="Triangle 15">
            <a:extLst>
              <a:ext uri="{FF2B5EF4-FFF2-40B4-BE49-F238E27FC236}">
                <a16:creationId xmlns:a16="http://schemas.microsoft.com/office/drawing/2014/main" id="{E8C2F21C-E193-EBE2-C399-04EB75C90631}"/>
              </a:ext>
            </a:extLst>
          </p:cNvPr>
          <p:cNvSpPr/>
          <p:nvPr/>
        </p:nvSpPr>
        <p:spPr>
          <a:xfrm rot="10800000">
            <a:off x="228600" y="117760"/>
            <a:ext cx="633037" cy="544731"/>
          </a:xfrm>
          <a:prstGeom prst="triangle">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EB032A3A-D1FE-DD67-A4EB-8648D9FE795F}"/>
              </a:ext>
            </a:extLst>
          </p:cNvPr>
          <p:cNvPicPr>
            <a:picLocks noChangeAspect="1"/>
          </p:cNvPicPr>
          <p:nvPr/>
        </p:nvPicPr>
        <p:blipFill>
          <a:blip r:embed="rId2"/>
          <a:stretch>
            <a:fillRect/>
          </a:stretch>
        </p:blipFill>
        <p:spPr>
          <a:xfrm>
            <a:off x="9836912" y="50267"/>
            <a:ext cx="2126489" cy="679717"/>
          </a:xfrm>
          <a:prstGeom prst="rect">
            <a:avLst/>
          </a:prstGeom>
        </p:spPr>
      </p:pic>
      <p:sp>
        <p:nvSpPr>
          <p:cNvPr id="9" name="Rectangle 8">
            <a:extLst>
              <a:ext uri="{FF2B5EF4-FFF2-40B4-BE49-F238E27FC236}">
                <a16:creationId xmlns:a16="http://schemas.microsoft.com/office/drawing/2014/main" id="{3C72A730-B5AC-9C14-0A52-C01C85A4593A}"/>
              </a:ext>
            </a:extLst>
          </p:cNvPr>
          <p:cNvSpPr/>
          <p:nvPr/>
        </p:nvSpPr>
        <p:spPr>
          <a:xfrm>
            <a:off x="0" y="6873690"/>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530D9709-1B97-3056-E19B-98524FBBF608}"/>
              </a:ext>
            </a:extLst>
          </p:cNvPr>
          <p:cNvSpPr/>
          <p:nvPr/>
        </p:nvSpPr>
        <p:spPr>
          <a:xfrm>
            <a:off x="0" y="6804339"/>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4AE32B6E-5387-DF14-1901-A39FAB43F7DE}"/>
              </a:ext>
            </a:extLst>
          </p:cNvPr>
          <p:cNvSpPr txBox="1"/>
          <p:nvPr/>
        </p:nvSpPr>
        <p:spPr>
          <a:xfrm>
            <a:off x="4229758" y="6473107"/>
            <a:ext cx="7972182" cy="369332"/>
          </a:xfrm>
          <a:prstGeom prst="rect">
            <a:avLst/>
          </a:prstGeom>
          <a:noFill/>
        </p:spPr>
        <p:txBody>
          <a:bodyPr wrap="none" rtlCol="0">
            <a:spAutoFit/>
          </a:bodyPr>
          <a:lstStyle/>
          <a:p>
            <a:pPr algn="r"/>
            <a:r>
              <a:rPr lang="en-US" dirty="0"/>
              <a:t>Name:  Jay Dev                               Reg. No.  12322566                   Section:   DE328       </a:t>
            </a:r>
            <a:endParaRPr lang="en-IN" dirty="0"/>
          </a:p>
        </p:txBody>
      </p:sp>
      <p:sp>
        <p:nvSpPr>
          <p:cNvPr id="8" name="TextBox 7">
            <a:extLst>
              <a:ext uri="{FF2B5EF4-FFF2-40B4-BE49-F238E27FC236}">
                <a16:creationId xmlns:a16="http://schemas.microsoft.com/office/drawing/2014/main" id="{CC06BDB8-791D-DAF4-1030-6C264F52D7C5}"/>
              </a:ext>
            </a:extLst>
          </p:cNvPr>
          <p:cNvSpPr txBox="1"/>
          <p:nvPr/>
        </p:nvSpPr>
        <p:spPr>
          <a:xfrm>
            <a:off x="533400" y="787439"/>
            <a:ext cx="4164496" cy="369332"/>
          </a:xfrm>
          <a:prstGeom prst="rect">
            <a:avLst/>
          </a:prstGeom>
          <a:noFill/>
        </p:spPr>
        <p:txBody>
          <a:bodyPr wrap="square" rtlCol="0">
            <a:spAutoFit/>
          </a:bodyPr>
          <a:lstStyle/>
          <a:p>
            <a:r>
              <a:rPr lang="en-US" i="1" dirty="0">
                <a:solidFill>
                  <a:schemeClr val="bg1">
                    <a:lumMod val="65000"/>
                  </a:schemeClr>
                </a:solidFill>
              </a:rPr>
              <a:t>Graphical representation of data</a:t>
            </a:r>
            <a:endParaRPr lang="en-IN" i="1" dirty="0">
              <a:solidFill>
                <a:schemeClr val="bg1">
                  <a:lumMod val="65000"/>
                </a:schemeClr>
              </a:solidFill>
            </a:endParaRPr>
          </a:p>
        </p:txBody>
      </p:sp>
      <p:sp>
        <p:nvSpPr>
          <p:cNvPr id="10" name="TextBox 9">
            <a:extLst>
              <a:ext uri="{FF2B5EF4-FFF2-40B4-BE49-F238E27FC236}">
                <a16:creationId xmlns:a16="http://schemas.microsoft.com/office/drawing/2014/main" id="{F71680B1-3664-0CC7-1CDC-F033EC4E5DA0}"/>
              </a:ext>
            </a:extLst>
          </p:cNvPr>
          <p:cNvSpPr txBox="1"/>
          <p:nvPr/>
        </p:nvSpPr>
        <p:spPr>
          <a:xfrm>
            <a:off x="9940" y="6500189"/>
            <a:ext cx="4346126" cy="369332"/>
          </a:xfrm>
          <a:prstGeom prst="rect">
            <a:avLst/>
          </a:prstGeom>
          <a:noFill/>
        </p:spPr>
        <p:txBody>
          <a:bodyPr wrap="none" rtlCol="0">
            <a:spAutoFit/>
          </a:bodyPr>
          <a:lstStyle/>
          <a:p>
            <a:r>
              <a:rPr lang="en-US" dirty="0"/>
              <a:t>Submitted for the Mini Project #3 of CAP776</a:t>
            </a:r>
            <a:endParaRPr lang="en-IN" dirty="0"/>
          </a:p>
        </p:txBody>
      </p:sp>
      <p:pic>
        <p:nvPicPr>
          <p:cNvPr id="11" name="Picture 10">
            <a:extLst>
              <a:ext uri="{FF2B5EF4-FFF2-40B4-BE49-F238E27FC236}">
                <a16:creationId xmlns:a16="http://schemas.microsoft.com/office/drawing/2014/main" id="{E0D8C6BC-42EB-3FDF-D949-E0EAF60A430D}"/>
              </a:ext>
            </a:extLst>
          </p:cNvPr>
          <p:cNvPicPr>
            <a:picLocks noChangeAspect="1"/>
          </p:cNvPicPr>
          <p:nvPr/>
        </p:nvPicPr>
        <p:blipFill>
          <a:blip r:embed="rId3"/>
          <a:stretch>
            <a:fillRect/>
          </a:stretch>
        </p:blipFill>
        <p:spPr>
          <a:xfrm>
            <a:off x="1728592" y="1177336"/>
            <a:ext cx="8341486" cy="4986299"/>
          </a:xfrm>
          <a:prstGeom prst="rect">
            <a:avLst/>
          </a:prstGeom>
        </p:spPr>
      </p:pic>
    </p:spTree>
    <p:extLst>
      <p:ext uri="{BB962C8B-B14F-4D97-AF65-F5344CB8AC3E}">
        <p14:creationId xmlns:p14="http://schemas.microsoft.com/office/powerpoint/2010/main" val="1766982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9F4F3-4CEB-7087-FDB9-F478759DF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D2715-C8B2-E7A3-5CDE-89091EACDB2B}"/>
              </a:ext>
            </a:extLst>
          </p:cNvPr>
          <p:cNvSpPr>
            <a:spLocks noGrp="1"/>
          </p:cNvSpPr>
          <p:nvPr>
            <p:ph type="ctrTitle"/>
          </p:nvPr>
        </p:nvSpPr>
        <p:spPr>
          <a:xfrm>
            <a:off x="861635" y="53661"/>
            <a:ext cx="8975276" cy="779082"/>
          </a:xfrm>
        </p:spPr>
        <p:txBody>
          <a:bodyPr rtlCol="0">
            <a:noAutofit/>
          </a:bodyPr>
          <a:lstStyle/>
          <a:p>
            <a:pPr algn="l" eaLnBrk="1" fontAlgn="auto" hangingPunct="1">
              <a:spcAft>
                <a:spcPts val="0"/>
              </a:spcAft>
              <a:defRPr/>
            </a:pPr>
            <a:r>
              <a:rPr lang="en-US" sz="5000" b="1" dirty="0">
                <a:solidFill>
                  <a:schemeClr val="tx2">
                    <a:lumMod val="50000"/>
                  </a:schemeClr>
                </a:solidFill>
                <a:latin typeface="Montserrat" panose="00000500000000000000" pitchFamily="2" charset="0"/>
              </a:rPr>
              <a:t>Story board #4</a:t>
            </a:r>
            <a:endParaRPr lang="en-IN" sz="5000" dirty="0">
              <a:solidFill>
                <a:srgbClr val="C00000"/>
              </a:solidFill>
              <a:latin typeface="Broadway" pitchFamily="82" charset="0"/>
            </a:endParaRPr>
          </a:p>
        </p:txBody>
      </p:sp>
      <p:cxnSp>
        <p:nvCxnSpPr>
          <p:cNvPr id="6" name="Straight Connector 5">
            <a:extLst>
              <a:ext uri="{FF2B5EF4-FFF2-40B4-BE49-F238E27FC236}">
                <a16:creationId xmlns:a16="http://schemas.microsoft.com/office/drawing/2014/main" id="{2C9E0212-B696-7A81-C540-2EDF5ABFC036}"/>
              </a:ext>
            </a:extLst>
          </p:cNvPr>
          <p:cNvCxnSpPr>
            <a:cxnSpLocks/>
          </p:cNvCxnSpPr>
          <p:nvPr/>
        </p:nvCxnSpPr>
        <p:spPr>
          <a:xfrm flipV="1">
            <a:off x="533400" y="729984"/>
            <a:ext cx="9303511" cy="38100"/>
          </a:xfrm>
          <a:prstGeom prst="line">
            <a:avLst/>
          </a:prstGeom>
        </p:spPr>
        <p:style>
          <a:lnRef idx="3">
            <a:schemeClr val="accent6"/>
          </a:lnRef>
          <a:fillRef idx="0">
            <a:schemeClr val="accent6"/>
          </a:fillRef>
          <a:effectRef idx="2">
            <a:schemeClr val="accent6"/>
          </a:effectRef>
          <a:fontRef idx="minor">
            <a:schemeClr val="tx1"/>
          </a:fontRef>
        </p:style>
      </p:cxnSp>
      <p:sp>
        <p:nvSpPr>
          <p:cNvPr id="3" name="Triangle 15">
            <a:extLst>
              <a:ext uri="{FF2B5EF4-FFF2-40B4-BE49-F238E27FC236}">
                <a16:creationId xmlns:a16="http://schemas.microsoft.com/office/drawing/2014/main" id="{76ADF4B1-A4FB-5D5C-9672-8FF41A70BD1F}"/>
              </a:ext>
            </a:extLst>
          </p:cNvPr>
          <p:cNvSpPr/>
          <p:nvPr/>
        </p:nvSpPr>
        <p:spPr>
          <a:xfrm rot="10800000">
            <a:off x="228600" y="117760"/>
            <a:ext cx="633037" cy="544731"/>
          </a:xfrm>
          <a:prstGeom prst="triangle">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D777558F-9735-DCCC-F9C0-10D17371C19C}"/>
              </a:ext>
            </a:extLst>
          </p:cNvPr>
          <p:cNvPicPr>
            <a:picLocks noChangeAspect="1"/>
          </p:cNvPicPr>
          <p:nvPr/>
        </p:nvPicPr>
        <p:blipFill>
          <a:blip r:embed="rId2"/>
          <a:stretch>
            <a:fillRect/>
          </a:stretch>
        </p:blipFill>
        <p:spPr>
          <a:xfrm>
            <a:off x="9836912" y="50267"/>
            <a:ext cx="2126489" cy="679717"/>
          </a:xfrm>
          <a:prstGeom prst="rect">
            <a:avLst/>
          </a:prstGeom>
        </p:spPr>
      </p:pic>
      <p:sp>
        <p:nvSpPr>
          <p:cNvPr id="9" name="Rectangle 8">
            <a:extLst>
              <a:ext uri="{FF2B5EF4-FFF2-40B4-BE49-F238E27FC236}">
                <a16:creationId xmlns:a16="http://schemas.microsoft.com/office/drawing/2014/main" id="{2BA8CF98-59ED-C7DD-9ADC-ABDB27740926}"/>
              </a:ext>
            </a:extLst>
          </p:cNvPr>
          <p:cNvSpPr/>
          <p:nvPr/>
        </p:nvSpPr>
        <p:spPr>
          <a:xfrm>
            <a:off x="0" y="6873690"/>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54F4F0A0-BDE3-F87E-9450-8809B371EC9A}"/>
              </a:ext>
            </a:extLst>
          </p:cNvPr>
          <p:cNvSpPr/>
          <p:nvPr/>
        </p:nvSpPr>
        <p:spPr>
          <a:xfrm>
            <a:off x="0" y="6804339"/>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672AECBB-8FF7-F9CC-FC78-6F7A8A55250E}"/>
              </a:ext>
            </a:extLst>
          </p:cNvPr>
          <p:cNvSpPr txBox="1"/>
          <p:nvPr/>
        </p:nvSpPr>
        <p:spPr>
          <a:xfrm>
            <a:off x="4229758" y="6473107"/>
            <a:ext cx="7972182" cy="369332"/>
          </a:xfrm>
          <a:prstGeom prst="rect">
            <a:avLst/>
          </a:prstGeom>
          <a:noFill/>
        </p:spPr>
        <p:txBody>
          <a:bodyPr wrap="none" rtlCol="0">
            <a:spAutoFit/>
          </a:bodyPr>
          <a:lstStyle/>
          <a:p>
            <a:pPr algn="r"/>
            <a:r>
              <a:rPr lang="en-US" dirty="0"/>
              <a:t>Name:  Jay Dev                               Reg. No.  12322566                   Section:   DE328       </a:t>
            </a:r>
            <a:endParaRPr lang="en-IN" dirty="0"/>
          </a:p>
        </p:txBody>
      </p:sp>
      <p:sp>
        <p:nvSpPr>
          <p:cNvPr id="8" name="TextBox 7">
            <a:extLst>
              <a:ext uri="{FF2B5EF4-FFF2-40B4-BE49-F238E27FC236}">
                <a16:creationId xmlns:a16="http://schemas.microsoft.com/office/drawing/2014/main" id="{ADFFC64C-614E-FB37-9BF9-0D9AA1695FAF}"/>
              </a:ext>
            </a:extLst>
          </p:cNvPr>
          <p:cNvSpPr txBox="1"/>
          <p:nvPr/>
        </p:nvSpPr>
        <p:spPr>
          <a:xfrm>
            <a:off x="533400" y="787439"/>
            <a:ext cx="4164496" cy="369332"/>
          </a:xfrm>
          <a:prstGeom prst="rect">
            <a:avLst/>
          </a:prstGeom>
          <a:noFill/>
        </p:spPr>
        <p:txBody>
          <a:bodyPr wrap="square" rtlCol="0">
            <a:spAutoFit/>
          </a:bodyPr>
          <a:lstStyle/>
          <a:p>
            <a:r>
              <a:rPr lang="en-US" i="1" dirty="0">
                <a:solidFill>
                  <a:schemeClr val="bg1">
                    <a:lumMod val="65000"/>
                  </a:schemeClr>
                </a:solidFill>
              </a:rPr>
              <a:t>Graphical </a:t>
            </a:r>
            <a:r>
              <a:rPr lang="en-US" i="1" dirty="0" err="1">
                <a:solidFill>
                  <a:schemeClr val="bg1">
                    <a:lumMod val="65000"/>
                  </a:schemeClr>
                </a:solidFill>
              </a:rPr>
              <a:t>representaton</a:t>
            </a:r>
            <a:r>
              <a:rPr lang="en-US" i="1" dirty="0">
                <a:solidFill>
                  <a:schemeClr val="bg1">
                    <a:lumMod val="65000"/>
                  </a:schemeClr>
                </a:solidFill>
              </a:rPr>
              <a:t> of data</a:t>
            </a:r>
            <a:endParaRPr lang="en-IN" i="1" dirty="0">
              <a:solidFill>
                <a:schemeClr val="bg1">
                  <a:lumMod val="65000"/>
                </a:schemeClr>
              </a:solidFill>
            </a:endParaRPr>
          </a:p>
        </p:txBody>
      </p:sp>
      <p:sp>
        <p:nvSpPr>
          <p:cNvPr id="10" name="TextBox 9">
            <a:extLst>
              <a:ext uri="{FF2B5EF4-FFF2-40B4-BE49-F238E27FC236}">
                <a16:creationId xmlns:a16="http://schemas.microsoft.com/office/drawing/2014/main" id="{C47A761E-CDD8-1F94-EF30-2B0CB4C814A9}"/>
              </a:ext>
            </a:extLst>
          </p:cNvPr>
          <p:cNvSpPr txBox="1"/>
          <p:nvPr/>
        </p:nvSpPr>
        <p:spPr>
          <a:xfrm>
            <a:off x="9940" y="6500189"/>
            <a:ext cx="4346126" cy="369332"/>
          </a:xfrm>
          <a:prstGeom prst="rect">
            <a:avLst/>
          </a:prstGeom>
          <a:noFill/>
        </p:spPr>
        <p:txBody>
          <a:bodyPr wrap="none" rtlCol="0">
            <a:spAutoFit/>
          </a:bodyPr>
          <a:lstStyle/>
          <a:p>
            <a:r>
              <a:rPr lang="en-US" dirty="0"/>
              <a:t>Submitted for the Mini Project #3 of CAP776</a:t>
            </a:r>
            <a:endParaRPr lang="en-IN" dirty="0"/>
          </a:p>
        </p:txBody>
      </p:sp>
      <p:pic>
        <p:nvPicPr>
          <p:cNvPr id="14" name="Picture 13">
            <a:extLst>
              <a:ext uri="{FF2B5EF4-FFF2-40B4-BE49-F238E27FC236}">
                <a16:creationId xmlns:a16="http://schemas.microsoft.com/office/drawing/2014/main" id="{328F28F1-9F9F-B556-0595-4389B6A82636}"/>
              </a:ext>
            </a:extLst>
          </p:cNvPr>
          <p:cNvPicPr>
            <a:picLocks noChangeAspect="1"/>
          </p:cNvPicPr>
          <p:nvPr/>
        </p:nvPicPr>
        <p:blipFill>
          <a:blip r:embed="rId3"/>
          <a:stretch>
            <a:fillRect/>
          </a:stretch>
        </p:blipFill>
        <p:spPr>
          <a:xfrm>
            <a:off x="2028490" y="1328518"/>
            <a:ext cx="7972182" cy="4755902"/>
          </a:xfrm>
          <a:prstGeom prst="rect">
            <a:avLst/>
          </a:prstGeom>
        </p:spPr>
      </p:pic>
    </p:spTree>
    <p:extLst>
      <p:ext uri="{BB962C8B-B14F-4D97-AF65-F5344CB8AC3E}">
        <p14:creationId xmlns:p14="http://schemas.microsoft.com/office/powerpoint/2010/main" val="424862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7228-D3FE-4D7E-81D1-8C9DC665DE8B}"/>
              </a:ext>
            </a:extLst>
          </p:cNvPr>
          <p:cNvSpPr>
            <a:spLocks noGrp="1"/>
          </p:cNvSpPr>
          <p:nvPr>
            <p:ph type="ctrTitle"/>
          </p:nvPr>
        </p:nvSpPr>
        <p:spPr>
          <a:xfrm>
            <a:off x="861635" y="53661"/>
            <a:ext cx="8975276" cy="779082"/>
          </a:xfrm>
        </p:spPr>
        <p:txBody>
          <a:bodyPr rtlCol="0">
            <a:noAutofit/>
          </a:bodyPr>
          <a:lstStyle/>
          <a:p>
            <a:pPr algn="l" eaLnBrk="1" fontAlgn="auto" hangingPunct="1">
              <a:spcAft>
                <a:spcPts val="0"/>
              </a:spcAft>
              <a:defRPr/>
            </a:pPr>
            <a:r>
              <a:rPr lang="en-US" sz="5000" b="1" dirty="0">
                <a:solidFill>
                  <a:schemeClr val="tx2">
                    <a:lumMod val="50000"/>
                  </a:schemeClr>
                </a:solidFill>
                <a:latin typeface="Montserrat" panose="00000500000000000000" pitchFamily="2" charset="0"/>
              </a:rPr>
              <a:t>Inferences drawn</a:t>
            </a:r>
            <a:endParaRPr lang="en-IN" sz="5000" dirty="0">
              <a:solidFill>
                <a:srgbClr val="C00000"/>
              </a:solidFill>
              <a:latin typeface="Broadway" pitchFamily="82" charset="0"/>
            </a:endParaRPr>
          </a:p>
        </p:txBody>
      </p:sp>
      <p:cxnSp>
        <p:nvCxnSpPr>
          <p:cNvPr id="6" name="Straight Connector 5">
            <a:extLst>
              <a:ext uri="{FF2B5EF4-FFF2-40B4-BE49-F238E27FC236}">
                <a16:creationId xmlns:a16="http://schemas.microsoft.com/office/drawing/2014/main" id="{488803DA-0FB5-4367-A46D-E94D6C7D8915}"/>
              </a:ext>
            </a:extLst>
          </p:cNvPr>
          <p:cNvCxnSpPr>
            <a:cxnSpLocks/>
          </p:cNvCxnSpPr>
          <p:nvPr/>
        </p:nvCxnSpPr>
        <p:spPr>
          <a:xfrm flipV="1">
            <a:off x="533400" y="729984"/>
            <a:ext cx="9303511" cy="38100"/>
          </a:xfrm>
          <a:prstGeom prst="line">
            <a:avLst/>
          </a:prstGeom>
        </p:spPr>
        <p:style>
          <a:lnRef idx="3">
            <a:schemeClr val="accent6"/>
          </a:lnRef>
          <a:fillRef idx="0">
            <a:schemeClr val="accent6"/>
          </a:fillRef>
          <a:effectRef idx="2">
            <a:schemeClr val="accent6"/>
          </a:effectRef>
          <a:fontRef idx="minor">
            <a:schemeClr val="tx1"/>
          </a:fontRef>
        </p:style>
      </p:cxnSp>
      <p:sp>
        <p:nvSpPr>
          <p:cNvPr id="3" name="Triangle 15">
            <a:extLst>
              <a:ext uri="{FF2B5EF4-FFF2-40B4-BE49-F238E27FC236}">
                <a16:creationId xmlns:a16="http://schemas.microsoft.com/office/drawing/2014/main" id="{123942CB-FF6D-3EDF-8CE2-2045441A1B8B}"/>
              </a:ext>
            </a:extLst>
          </p:cNvPr>
          <p:cNvSpPr/>
          <p:nvPr/>
        </p:nvSpPr>
        <p:spPr>
          <a:xfrm rot="10800000">
            <a:off x="228600" y="117760"/>
            <a:ext cx="633037" cy="544731"/>
          </a:xfrm>
          <a:prstGeom prst="triangle">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1CAF5E16-C343-3C78-B173-7F2D23AE9DE7}"/>
              </a:ext>
            </a:extLst>
          </p:cNvPr>
          <p:cNvPicPr>
            <a:picLocks noChangeAspect="1"/>
          </p:cNvPicPr>
          <p:nvPr/>
        </p:nvPicPr>
        <p:blipFill>
          <a:blip r:embed="rId2"/>
          <a:stretch>
            <a:fillRect/>
          </a:stretch>
        </p:blipFill>
        <p:spPr>
          <a:xfrm>
            <a:off x="9836912" y="50267"/>
            <a:ext cx="2126489" cy="679717"/>
          </a:xfrm>
          <a:prstGeom prst="rect">
            <a:avLst/>
          </a:prstGeom>
        </p:spPr>
      </p:pic>
      <p:sp>
        <p:nvSpPr>
          <p:cNvPr id="9" name="Rectangle 8">
            <a:extLst>
              <a:ext uri="{FF2B5EF4-FFF2-40B4-BE49-F238E27FC236}">
                <a16:creationId xmlns:a16="http://schemas.microsoft.com/office/drawing/2014/main" id="{01BC3F88-7188-26A2-B040-51F18EC8EEF8}"/>
              </a:ext>
            </a:extLst>
          </p:cNvPr>
          <p:cNvSpPr/>
          <p:nvPr/>
        </p:nvSpPr>
        <p:spPr>
          <a:xfrm>
            <a:off x="0" y="6873690"/>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77A6C3EC-F062-7F3B-9B6D-C983BA7F4228}"/>
              </a:ext>
            </a:extLst>
          </p:cNvPr>
          <p:cNvSpPr/>
          <p:nvPr/>
        </p:nvSpPr>
        <p:spPr>
          <a:xfrm>
            <a:off x="0" y="6804339"/>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FF76A093-B2B9-A360-F829-B21355A310A1}"/>
              </a:ext>
            </a:extLst>
          </p:cNvPr>
          <p:cNvSpPr txBox="1"/>
          <p:nvPr/>
        </p:nvSpPr>
        <p:spPr>
          <a:xfrm>
            <a:off x="4229758" y="6473107"/>
            <a:ext cx="7972182" cy="369332"/>
          </a:xfrm>
          <a:prstGeom prst="rect">
            <a:avLst/>
          </a:prstGeom>
          <a:noFill/>
        </p:spPr>
        <p:txBody>
          <a:bodyPr wrap="none" rtlCol="0">
            <a:spAutoFit/>
          </a:bodyPr>
          <a:lstStyle/>
          <a:p>
            <a:pPr algn="r"/>
            <a:r>
              <a:rPr lang="en-US" dirty="0"/>
              <a:t>Name:  Jay Dev                               Reg. No. 12322566                    Section:DE328          </a:t>
            </a:r>
            <a:endParaRPr lang="en-IN" dirty="0"/>
          </a:p>
        </p:txBody>
      </p:sp>
      <p:sp>
        <p:nvSpPr>
          <p:cNvPr id="8" name="Rectangle: Rounded Corners 7">
            <a:extLst>
              <a:ext uri="{FF2B5EF4-FFF2-40B4-BE49-F238E27FC236}">
                <a16:creationId xmlns:a16="http://schemas.microsoft.com/office/drawing/2014/main" id="{06A6838F-A494-C62C-99CC-DD63A1A7D9DA}"/>
              </a:ext>
            </a:extLst>
          </p:cNvPr>
          <p:cNvSpPr/>
          <p:nvPr/>
        </p:nvSpPr>
        <p:spPr>
          <a:xfrm>
            <a:off x="545118" y="966642"/>
            <a:ext cx="11153239" cy="5400873"/>
          </a:xfrm>
          <a:prstGeom prst="roundRect">
            <a:avLst/>
          </a:prstGeom>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t"/>
          <a:lstStyle/>
          <a:p>
            <a:r>
              <a:rPr lang="en-US" sz="2800" b="1" dirty="0"/>
              <a:t>Step Count Goal</a:t>
            </a:r>
            <a:r>
              <a:rPr lang="en-US" sz="2800" i="1" dirty="0"/>
              <a:t>: The average step count (~6,000 steps) falls below the often recommended daily target of 10,000 steps. There’s room for improvement if increasing daily activity is a goal.</a:t>
            </a:r>
          </a:p>
          <a:p>
            <a:r>
              <a:rPr lang="en-US" sz="2800" b="1" dirty="0"/>
              <a:t>Weekly Patterns</a:t>
            </a:r>
            <a:r>
              <a:rPr lang="en-US" sz="2800" dirty="0"/>
              <a:t>: Binning by weeks shows if there's any consistent rise or drop in activity. If weekends or specific weekdays consistently have lower step counts, that could indicate lifestyle or schedule-related inactivity.</a:t>
            </a:r>
          </a:p>
          <a:p>
            <a:r>
              <a:rPr lang="en-US" sz="2800" b="1" dirty="0"/>
              <a:t>Outliers and Rest Days</a:t>
            </a:r>
            <a:r>
              <a:rPr lang="en-US" sz="2800" dirty="0"/>
              <a:t>: Days with step counts as low as 1000 steps likely represent days of inactivity or potential errors in data collection. These should be excluded from some forms of analysis to prevent skewed results.</a:t>
            </a:r>
          </a:p>
          <a:p>
            <a:endParaRPr lang="en-IN" sz="2800" i="1" dirty="0"/>
          </a:p>
        </p:txBody>
      </p:sp>
      <p:sp>
        <p:nvSpPr>
          <p:cNvPr id="10" name="TextBox 9">
            <a:extLst>
              <a:ext uri="{FF2B5EF4-FFF2-40B4-BE49-F238E27FC236}">
                <a16:creationId xmlns:a16="http://schemas.microsoft.com/office/drawing/2014/main" id="{6D50FE81-B923-9BDD-7764-4E4BE787D0A9}"/>
              </a:ext>
            </a:extLst>
          </p:cNvPr>
          <p:cNvSpPr txBox="1"/>
          <p:nvPr/>
        </p:nvSpPr>
        <p:spPr>
          <a:xfrm>
            <a:off x="9940" y="6500189"/>
            <a:ext cx="4346126" cy="369332"/>
          </a:xfrm>
          <a:prstGeom prst="rect">
            <a:avLst/>
          </a:prstGeom>
          <a:noFill/>
        </p:spPr>
        <p:txBody>
          <a:bodyPr wrap="none" rtlCol="0">
            <a:spAutoFit/>
          </a:bodyPr>
          <a:lstStyle/>
          <a:p>
            <a:r>
              <a:rPr lang="en-US" dirty="0"/>
              <a:t>Submitted for the Mini Project #3 of CAP776</a:t>
            </a:r>
            <a:endParaRPr lang="en-IN" dirty="0"/>
          </a:p>
        </p:txBody>
      </p:sp>
    </p:spTree>
    <p:extLst>
      <p:ext uri="{BB962C8B-B14F-4D97-AF65-F5344CB8AC3E}">
        <p14:creationId xmlns:p14="http://schemas.microsoft.com/office/powerpoint/2010/main" val="4049512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7228-D3FE-4D7E-81D1-8C9DC665DE8B}"/>
              </a:ext>
            </a:extLst>
          </p:cNvPr>
          <p:cNvSpPr>
            <a:spLocks noGrp="1"/>
          </p:cNvSpPr>
          <p:nvPr>
            <p:ph type="ctrTitle"/>
          </p:nvPr>
        </p:nvSpPr>
        <p:spPr>
          <a:xfrm>
            <a:off x="861635" y="53661"/>
            <a:ext cx="8975276" cy="779082"/>
          </a:xfrm>
        </p:spPr>
        <p:txBody>
          <a:bodyPr rtlCol="0">
            <a:noAutofit/>
          </a:bodyPr>
          <a:lstStyle/>
          <a:p>
            <a:pPr algn="l" eaLnBrk="1" fontAlgn="auto" hangingPunct="1">
              <a:spcAft>
                <a:spcPts val="0"/>
              </a:spcAft>
              <a:defRPr/>
            </a:pPr>
            <a:r>
              <a:rPr lang="en-US" sz="5000" b="1" dirty="0">
                <a:solidFill>
                  <a:schemeClr val="tx2">
                    <a:lumMod val="50000"/>
                  </a:schemeClr>
                </a:solidFill>
                <a:latin typeface="Montserrat" panose="00000500000000000000" pitchFamily="2" charset="0"/>
              </a:rPr>
              <a:t>Future scope </a:t>
            </a:r>
            <a:r>
              <a:rPr lang="en-US" sz="5000" b="1" dirty="0">
                <a:solidFill>
                  <a:schemeClr val="accent5">
                    <a:lumMod val="60000"/>
                    <a:lumOff val="40000"/>
                  </a:schemeClr>
                </a:solidFill>
                <a:latin typeface="Montserrat" panose="00000500000000000000" pitchFamily="2" charset="0"/>
              </a:rPr>
              <a:t>[Optional]</a:t>
            </a:r>
            <a:endParaRPr lang="en-IN" sz="5000" dirty="0">
              <a:solidFill>
                <a:schemeClr val="accent5">
                  <a:lumMod val="60000"/>
                  <a:lumOff val="40000"/>
                </a:schemeClr>
              </a:solidFill>
              <a:latin typeface="Broadway" pitchFamily="82" charset="0"/>
            </a:endParaRPr>
          </a:p>
        </p:txBody>
      </p:sp>
      <p:cxnSp>
        <p:nvCxnSpPr>
          <p:cNvPr id="6" name="Straight Connector 5">
            <a:extLst>
              <a:ext uri="{FF2B5EF4-FFF2-40B4-BE49-F238E27FC236}">
                <a16:creationId xmlns:a16="http://schemas.microsoft.com/office/drawing/2014/main" id="{488803DA-0FB5-4367-A46D-E94D6C7D8915}"/>
              </a:ext>
            </a:extLst>
          </p:cNvPr>
          <p:cNvCxnSpPr>
            <a:cxnSpLocks/>
          </p:cNvCxnSpPr>
          <p:nvPr/>
        </p:nvCxnSpPr>
        <p:spPr>
          <a:xfrm flipV="1">
            <a:off x="533400" y="729984"/>
            <a:ext cx="9303511" cy="38100"/>
          </a:xfrm>
          <a:prstGeom prst="line">
            <a:avLst/>
          </a:prstGeom>
        </p:spPr>
        <p:style>
          <a:lnRef idx="3">
            <a:schemeClr val="accent6"/>
          </a:lnRef>
          <a:fillRef idx="0">
            <a:schemeClr val="accent6"/>
          </a:fillRef>
          <a:effectRef idx="2">
            <a:schemeClr val="accent6"/>
          </a:effectRef>
          <a:fontRef idx="minor">
            <a:schemeClr val="tx1"/>
          </a:fontRef>
        </p:style>
      </p:cxnSp>
      <p:sp>
        <p:nvSpPr>
          <p:cNvPr id="3" name="Triangle 15">
            <a:extLst>
              <a:ext uri="{FF2B5EF4-FFF2-40B4-BE49-F238E27FC236}">
                <a16:creationId xmlns:a16="http://schemas.microsoft.com/office/drawing/2014/main" id="{123942CB-FF6D-3EDF-8CE2-2045441A1B8B}"/>
              </a:ext>
            </a:extLst>
          </p:cNvPr>
          <p:cNvSpPr/>
          <p:nvPr/>
        </p:nvSpPr>
        <p:spPr>
          <a:xfrm rot="10800000">
            <a:off x="228600" y="117760"/>
            <a:ext cx="633037" cy="544731"/>
          </a:xfrm>
          <a:prstGeom prst="triangle">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1CAF5E16-C343-3C78-B173-7F2D23AE9DE7}"/>
              </a:ext>
            </a:extLst>
          </p:cNvPr>
          <p:cNvPicPr>
            <a:picLocks noChangeAspect="1"/>
          </p:cNvPicPr>
          <p:nvPr/>
        </p:nvPicPr>
        <p:blipFill>
          <a:blip r:embed="rId2"/>
          <a:stretch>
            <a:fillRect/>
          </a:stretch>
        </p:blipFill>
        <p:spPr>
          <a:xfrm>
            <a:off x="9836912" y="50267"/>
            <a:ext cx="2126489" cy="679717"/>
          </a:xfrm>
          <a:prstGeom prst="rect">
            <a:avLst/>
          </a:prstGeom>
        </p:spPr>
      </p:pic>
      <p:sp>
        <p:nvSpPr>
          <p:cNvPr id="9" name="Rectangle 8">
            <a:extLst>
              <a:ext uri="{FF2B5EF4-FFF2-40B4-BE49-F238E27FC236}">
                <a16:creationId xmlns:a16="http://schemas.microsoft.com/office/drawing/2014/main" id="{01BC3F88-7188-26A2-B040-51F18EC8EEF8}"/>
              </a:ext>
            </a:extLst>
          </p:cNvPr>
          <p:cNvSpPr/>
          <p:nvPr/>
        </p:nvSpPr>
        <p:spPr>
          <a:xfrm>
            <a:off x="0" y="6873690"/>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77A6C3EC-F062-7F3B-9B6D-C983BA7F4228}"/>
              </a:ext>
            </a:extLst>
          </p:cNvPr>
          <p:cNvSpPr/>
          <p:nvPr/>
        </p:nvSpPr>
        <p:spPr>
          <a:xfrm>
            <a:off x="0" y="6804339"/>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FF76A093-B2B9-A360-F829-B21355A310A1}"/>
              </a:ext>
            </a:extLst>
          </p:cNvPr>
          <p:cNvSpPr txBox="1"/>
          <p:nvPr/>
        </p:nvSpPr>
        <p:spPr>
          <a:xfrm>
            <a:off x="4229758" y="6473107"/>
            <a:ext cx="7972182" cy="369332"/>
          </a:xfrm>
          <a:prstGeom prst="rect">
            <a:avLst/>
          </a:prstGeom>
          <a:noFill/>
        </p:spPr>
        <p:txBody>
          <a:bodyPr wrap="none" rtlCol="0">
            <a:spAutoFit/>
          </a:bodyPr>
          <a:lstStyle/>
          <a:p>
            <a:pPr algn="r"/>
            <a:r>
              <a:rPr lang="en-US" dirty="0"/>
              <a:t>Name:   Jay Dev                              Reg. No.  12322566                   Section: DE328         </a:t>
            </a:r>
            <a:endParaRPr lang="en-IN" dirty="0"/>
          </a:p>
        </p:txBody>
      </p:sp>
      <p:sp>
        <p:nvSpPr>
          <p:cNvPr id="8" name="Rectangle: Rounded Corners 7">
            <a:extLst>
              <a:ext uri="{FF2B5EF4-FFF2-40B4-BE49-F238E27FC236}">
                <a16:creationId xmlns:a16="http://schemas.microsoft.com/office/drawing/2014/main" id="{0CDC5EC8-640E-09BA-D9F1-A4D072E117C4}"/>
              </a:ext>
            </a:extLst>
          </p:cNvPr>
          <p:cNvSpPr/>
          <p:nvPr/>
        </p:nvSpPr>
        <p:spPr>
          <a:xfrm>
            <a:off x="545118" y="985431"/>
            <a:ext cx="11153239" cy="5400873"/>
          </a:xfrm>
          <a:prstGeom prst="roundRect">
            <a:avLst/>
          </a:prstGeom>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t"/>
          <a:lstStyle/>
          <a:p>
            <a:pPr marL="457200" indent="-457200">
              <a:buFont typeface="Arial" panose="020B0604020202020204" pitchFamily="34" charset="0"/>
              <a:buChar char="•"/>
            </a:pPr>
            <a:r>
              <a:rPr lang="en-US" sz="2800" b="1" dirty="0"/>
              <a:t>Personalized Recommendations</a:t>
            </a:r>
            <a:r>
              <a:rPr lang="en-US" sz="2800" dirty="0"/>
              <a:t>: Generate customized fitness or dietary recommendations aligned with activity patterns to support health and wellness goals.</a:t>
            </a:r>
          </a:p>
          <a:p>
            <a:pPr marL="457200" indent="-457200">
              <a:buFont typeface="Arial" panose="020B0604020202020204" pitchFamily="34" charset="0"/>
              <a:buChar char="•"/>
            </a:pPr>
            <a:r>
              <a:rPr lang="en-US" sz="2800" b="1" dirty="0"/>
              <a:t>Time-Series Analysis</a:t>
            </a:r>
            <a:r>
              <a:rPr lang="en-US" sz="2800" dirty="0"/>
              <a:t>: Perform time-series analysis to identify activity trends over time and assist in setting personal fitness goals.</a:t>
            </a:r>
          </a:p>
          <a:p>
            <a:pPr marL="457200" indent="-457200">
              <a:buFont typeface="Arial" panose="020B0604020202020204" pitchFamily="34" charset="0"/>
              <a:buChar char="•"/>
            </a:pPr>
            <a:r>
              <a:rPr lang="en-US" sz="2800" b="1" dirty="0"/>
              <a:t>Predictive Modeling</a:t>
            </a:r>
            <a:r>
              <a:rPr lang="en-US" sz="2800" dirty="0"/>
              <a:t>: Develop predictive models to forecast calories burned and activity levels based on historical data.</a:t>
            </a:r>
          </a:p>
          <a:p>
            <a:pPr marL="457200" indent="-457200">
              <a:buFont typeface="Arial" panose="020B0604020202020204" pitchFamily="34" charset="0"/>
              <a:buChar char="•"/>
            </a:pPr>
            <a:r>
              <a:rPr lang="en-US" sz="2800" b="1" dirty="0"/>
              <a:t>Activity Classification</a:t>
            </a:r>
            <a:r>
              <a:rPr lang="en-US" sz="2800" dirty="0"/>
              <a:t>: Classify days as either sedentary or active based on metrics like step count, heart rate, and speed, enabling better activity tracking.</a:t>
            </a:r>
            <a:endParaRPr lang="en-IN" sz="2800" i="1" dirty="0"/>
          </a:p>
        </p:txBody>
      </p:sp>
      <p:sp>
        <p:nvSpPr>
          <p:cNvPr id="10" name="TextBox 9">
            <a:extLst>
              <a:ext uri="{FF2B5EF4-FFF2-40B4-BE49-F238E27FC236}">
                <a16:creationId xmlns:a16="http://schemas.microsoft.com/office/drawing/2014/main" id="{CA623385-C7F1-221B-18B2-640419C04493}"/>
              </a:ext>
            </a:extLst>
          </p:cNvPr>
          <p:cNvSpPr txBox="1"/>
          <p:nvPr/>
        </p:nvSpPr>
        <p:spPr>
          <a:xfrm>
            <a:off x="9940" y="6500189"/>
            <a:ext cx="4346126" cy="369332"/>
          </a:xfrm>
          <a:prstGeom prst="rect">
            <a:avLst/>
          </a:prstGeom>
          <a:noFill/>
        </p:spPr>
        <p:txBody>
          <a:bodyPr wrap="none" rtlCol="0">
            <a:spAutoFit/>
          </a:bodyPr>
          <a:lstStyle/>
          <a:p>
            <a:r>
              <a:rPr lang="en-US" dirty="0"/>
              <a:t>Submitted for the Mini Project #3 of CAP776</a:t>
            </a:r>
            <a:endParaRPr lang="en-IN" dirty="0"/>
          </a:p>
        </p:txBody>
      </p:sp>
    </p:spTree>
    <p:extLst>
      <p:ext uri="{BB962C8B-B14F-4D97-AF65-F5344CB8AC3E}">
        <p14:creationId xmlns:p14="http://schemas.microsoft.com/office/powerpoint/2010/main" val="887428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7228-D3FE-4D7E-81D1-8C9DC665DE8B}"/>
              </a:ext>
            </a:extLst>
          </p:cNvPr>
          <p:cNvSpPr>
            <a:spLocks noGrp="1"/>
          </p:cNvSpPr>
          <p:nvPr>
            <p:ph type="ctrTitle"/>
          </p:nvPr>
        </p:nvSpPr>
        <p:spPr>
          <a:xfrm>
            <a:off x="861635" y="3065213"/>
            <a:ext cx="8975276" cy="779082"/>
          </a:xfrm>
        </p:spPr>
        <p:txBody>
          <a:bodyPr rtlCol="0">
            <a:noAutofit/>
          </a:bodyPr>
          <a:lstStyle/>
          <a:p>
            <a:pPr algn="l" eaLnBrk="1" fontAlgn="auto" hangingPunct="1">
              <a:spcAft>
                <a:spcPts val="0"/>
              </a:spcAft>
              <a:defRPr/>
            </a:pPr>
            <a:r>
              <a:rPr lang="en-US" sz="5000" b="1" dirty="0">
                <a:solidFill>
                  <a:schemeClr val="tx2">
                    <a:lumMod val="50000"/>
                  </a:schemeClr>
                </a:solidFill>
                <a:latin typeface="Montserrat" panose="00000500000000000000" pitchFamily="2" charset="0"/>
              </a:rPr>
              <a:t>Thank You!</a:t>
            </a:r>
            <a:endParaRPr lang="en-IN" sz="5000" dirty="0">
              <a:solidFill>
                <a:srgbClr val="C00000"/>
              </a:solidFill>
              <a:latin typeface="Broadway" pitchFamily="82" charset="0"/>
            </a:endParaRPr>
          </a:p>
        </p:txBody>
      </p:sp>
      <p:cxnSp>
        <p:nvCxnSpPr>
          <p:cNvPr id="6" name="Straight Connector 5">
            <a:extLst>
              <a:ext uri="{FF2B5EF4-FFF2-40B4-BE49-F238E27FC236}">
                <a16:creationId xmlns:a16="http://schemas.microsoft.com/office/drawing/2014/main" id="{488803DA-0FB5-4367-A46D-E94D6C7D8915}"/>
              </a:ext>
            </a:extLst>
          </p:cNvPr>
          <p:cNvCxnSpPr>
            <a:cxnSpLocks/>
          </p:cNvCxnSpPr>
          <p:nvPr/>
        </p:nvCxnSpPr>
        <p:spPr>
          <a:xfrm flipV="1">
            <a:off x="533400" y="3741536"/>
            <a:ext cx="9303511" cy="38100"/>
          </a:xfrm>
          <a:prstGeom prst="line">
            <a:avLst/>
          </a:prstGeom>
        </p:spPr>
        <p:style>
          <a:lnRef idx="3">
            <a:schemeClr val="accent6"/>
          </a:lnRef>
          <a:fillRef idx="0">
            <a:schemeClr val="accent6"/>
          </a:fillRef>
          <a:effectRef idx="2">
            <a:schemeClr val="accent6"/>
          </a:effectRef>
          <a:fontRef idx="minor">
            <a:schemeClr val="tx1"/>
          </a:fontRef>
        </p:style>
      </p:cxnSp>
      <p:sp>
        <p:nvSpPr>
          <p:cNvPr id="3" name="Triangle 15">
            <a:extLst>
              <a:ext uri="{FF2B5EF4-FFF2-40B4-BE49-F238E27FC236}">
                <a16:creationId xmlns:a16="http://schemas.microsoft.com/office/drawing/2014/main" id="{123942CB-FF6D-3EDF-8CE2-2045441A1B8B}"/>
              </a:ext>
            </a:extLst>
          </p:cNvPr>
          <p:cNvSpPr/>
          <p:nvPr/>
        </p:nvSpPr>
        <p:spPr>
          <a:xfrm rot="10800000">
            <a:off x="228600" y="3129312"/>
            <a:ext cx="633037" cy="544731"/>
          </a:xfrm>
          <a:prstGeom prst="triangle">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1CAF5E16-C343-3C78-B173-7F2D23AE9DE7}"/>
              </a:ext>
            </a:extLst>
          </p:cNvPr>
          <p:cNvPicPr>
            <a:picLocks noChangeAspect="1"/>
          </p:cNvPicPr>
          <p:nvPr/>
        </p:nvPicPr>
        <p:blipFill>
          <a:blip r:embed="rId2"/>
          <a:stretch>
            <a:fillRect/>
          </a:stretch>
        </p:blipFill>
        <p:spPr>
          <a:xfrm>
            <a:off x="9836912" y="50267"/>
            <a:ext cx="2126489" cy="679717"/>
          </a:xfrm>
          <a:prstGeom prst="rect">
            <a:avLst/>
          </a:prstGeom>
        </p:spPr>
      </p:pic>
      <p:sp>
        <p:nvSpPr>
          <p:cNvPr id="9" name="Rectangle 8">
            <a:extLst>
              <a:ext uri="{FF2B5EF4-FFF2-40B4-BE49-F238E27FC236}">
                <a16:creationId xmlns:a16="http://schemas.microsoft.com/office/drawing/2014/main" id="{01BC3F88-7188-26A2-B040-51F18EC8EEF8}"/>
              </a:ext>
            </a:extLst>
          </p:cNvPr>
          <p:cNvSpPr/>
          <p:nvPr/>
        </p:nvSpPr>
        <p:spPr>
          <a:xfrm>
            <a:off x="0" y="6873690"/>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77A6C3EC-F062-7F3B-9B6D-C983BA7F4228}"/>
              </a:ext>
            </a:extLst>
          </p:cNvPr>
          <p:cNvSpPr/>
          <p:nvPr/>
        </p:nvSpPr>
        <p:spPr>
          <a:xfrm>
            <a:off x="0" y="6804339"/>
            <a:ext cx="12192000" cy="82104"/>
          </a:xfrm>
          <a:prstGeom prst="rect">
            <a:avLst/>
          </a:prstGeom>
          <a:solidFill>
            <a:srgbClr val="ED77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FF76A093-B2B9-A360-F829-B21355A310A1}"/>
              </a:ext>
            </a:extLst>
          </p:cNvPr>
          <p:cNvSpPr txBox="1"/>
          <p:nvPr/>
        </p:nvSpPr>
        <p:spPr>
          <a:xfrm>
            <a:off x="4229758" y="6473107"/>
            <a:ext cx="7972182" cy="369332"/>
          </a:xfrm>
          <a:prstGeom prst="rect">
            <a:avLst/>
          </a:prstGeom>
          <a:noFill/>
        </p:spPr>
        <p:txBody>
          <a:bodyPr wrap="none" rtlCol="0">
            <a:spAutoFit/>
          </a:bodyPr>
          <a:lstStyle/>
          <a:p>
            <a:pPr algn="r"/>
            <a:r>
              <a:rPr lang="en-US" dirty="0"/>
              <a:t>Name: Jay Dev                                Reg. No.  12322566                   Section: DE328         </a:t>
            </a:r>
            <a:endParaRPr lang="en-IN" dirty="0"/>
          </a:p>
        </p:txBody>
      </p:sp>
      <p:sp>
        <p:nvSpPr>
          <p:cNvPr id="8" name="TextBox 7">
            <a:extLst>
              <a:ext uri="{FF2B5EF4-FFF2-40B4-BE49-F238E27FC236}">
                <a16:creationId xmlns:a16="http://schemas.microsoft.com/office/drawing/2014/main" id="{4A800FDB-DEE1-9C6E-394F-FBB1CB8EAE92}"/>
              </a:ext>
            </a:extLst>
          </p:cNvPr>
          <p:cNvSpPr txBox="1"/>
          <p:nvPr/>
        </p:nvSpPr>
        <p:spPr>
          <a:xfrm>
            <a:off x="9940" y="6500189"/>
            <a:ext cx="4346126" cy="369332"/>
          </a:xfrm>
          <a:prstGeom prst="rect">
            <a:avLst/>
          </a:prstGeom>
          <a:noFill/>
        </p:spPr>
        <p:txBody>
          <a:bodyPr wrap="none" rtlCol="0">
            <a:spAutoFit/>
          </a:bodyPr>
          <a:lstStyle/>
          <a:p>
            <a:r>
              <a:rPr lang="en-US" dirty="0"/>
              <a:t>Submitted for the Mini Project #3 of CAP776</a:t>
            </a:r>
            <a:endParaRPr lang="en-IN" dirty="0"/>
          </a:p>
        </p:txBody>
      </p:sp>
    </p:spTree>
    <p:extLst>
      <p:ext uri="{BB962C8B-B14F-4D97-AF65-F5344CB8AC3E}">
        <p14:creationId xmlns:p14="http://schemas.microsoft.com/office/powerpoint/2010/main" val="2617522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1116</TotalTime>
  <Words>529</Words>
  <Application>Microsoft Office PowerPoint</Application>
  <PresentationFormat>Widescreen</PresentationFormat>
  <Paragraphs>52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Broadway</vt:lpstr>
      <vt:lpstr>Calibri</vt:lpstr>
      <vt:lpstr>Calibri Light</vt:lpstr>
      <vt:lpstr>Montserrat</vt:lpstr>
      <vt:lpstr>Office Theme</vt:lpstr>
      <vt:lpstr>PowerPoint Presentation</vt:lpstr>
      <vt:lpstr>Context Setting</vt:lpstr>
      <vt:lpstr>The data captured</vt:lpstr>
      <vt:lpstr>Story board #1</vt:lpstr>
      <vt:lpstr>Story board #2</vt:lpstr>
      <vt:lpstr>Story board #3</vt:lpstr>
      <vt:lpstr>Story board #4</vt:lpstr>
      <vt:lpstr>Inferences drawn</vt:lpstr>
      <vt:lpstr>Future scope [Optional]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lovi raj gupta</dc:creator>
  <cp:lastModifiedBy>INFINITY X</cp:lastModifiedBy>
  <cp:revision>21</cp:revision>
  <cp:lastPrinted>2024-11-05T17:35:50Z</cp:lastPrinted>
  <dcterms:created xsi:type="dcterms:W3CDTF">2022-08-01T05:18:21Z</dcterms:created>
  <dcterms:modified xsi:type="dcterms:W3CDTF">2024-11-05T17:36:37Z</dcterms:modified>
</cp:coreProperties>
</file>